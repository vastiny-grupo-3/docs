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" charset="1" panose="00000500000000000000"/>
      <p:regular r:id="rId27"/>
    </p:embeddedFont>
    <p:embeddedFont>
      <p:font typeface="Montserrat Bold" charset="1" panose="00000800000000000000"/>
      <p:regular r:id="rId28"/>
    </p:embeddedFont>
    <p:embeddedFont>
      <p:font typeface="Montserrat Italics" charset="1" panose="00000500000000000000"/>
      <p:regular r:id="rId29"/>
    </p:embeddedFont>
    <p:embeddedFont>
      <p:font typeface="Poppins Medium" charset="1" panose="00000600000000000000"/>
      <p:regular r:id="rId30"/>
    </p:embeddedFont>
    <p:embeddedFont>
      <p:font typeface="Poppins Semi-Bold" charset="1" panose="00000700000000000000"/>
      <p:regular r:id="rId31"/>
    </p:embeddedFont>
    <p:embeddedFont>
      <p:font typeface="Poppins Bold" charset="1" panose="00000800000000000000"/>
      <p:regular r:id="rId32"/>
    </p:embeddedFont>
    <p:embeddedFont>
      <p:font typeface="Poppins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6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2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4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5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6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6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49.png" Type="http://schemas.openxmlformats.org/officeDocument/2006/relationships/image"/><Relationship Id="rId4" Target="../media/image2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38" t="0" r="-71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682" y="1223058"/>
            <a:ext cx="6152011" cy="3540869"/>
          </a:xfrm>
          <a:custGeom>
            <a:avLst/>
            <a:gdLst/>
            <a:ahLst/>
            <a:cxnLst/>
            <a:rect r="r" b="b" t="t" l="l"/>
            <a:pathLst>
              <a:path h="3540869" w="6152011">
                <a:moveTo>
                  <a:pt x="0" y="0"/>
                </a:moveTo>
                <a:lnTo>
                  <a:pt x="6152011" y="0"/>
                </a:lnTo>
                <a:lnTo>
                  <a:pt x="6152011" y="3540868"/>
                </a:lnTo>
                <a:lnTo>
                  <a:pt x="0" y="3540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010" t="0" r="-21047" b="-506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3215" y="5594196"/>
            <a:ext cx="7330945" cy="1578757"/>
          </a:xfrm>
          <a:custGeom>
            <a:avLst/>
            <a:gdLst/>
            <a:ahLst/>
            <a:cxnLst/>
            <a:rect r="r" b="b" t="t" l="l"/>
            <a:pathLst>
              <a:path h="1578757" w="7330945">
                <a:moveTo>
                  <a:pt x="0" y="0"/>
                </a:moveTo>
                <a:lnTo>
                  <a:pt x="7330945" y="0"/>
                </a:lnTo>
                <a:lnTo>
                  <a:pt x="7330945" y="1578758"/>
                </a:lnTo>
                <a:lnTo>
                  <a:pt x="0" y="1578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09" t="-197613" r="-897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84312" y="9562201"/>
            <a:ext cx="2525225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Fundada</a:t>
            </a:r>
          </a:p>
          <a:p>
            <a:pPr algn="ctr">
              <a:lnSpc>
                <a:spcPts val="1890"/>
              </a:lnSpc>
            </a:pPr>
            <a:r>
              <a:rPr lang="en-US" sz="2100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 em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4160" y="9842236"/>
            <a:ext cx="32370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Imagem gerada por 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3226" y="1475217"/>
            <a:ext cx="3210774" cy="3141998"/>
            <a:chOff x="0" y="0"/>
            <a:chExt cx="626268" cy="612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6268" cy="612853"/>
            </a:xfrm>
            <a:custGeom>
              <a:avLst/>
              <a:gdLst/>
              <a:ahLst/>
              <a:cxnLst/>
              <a:rect r="r" b="b" t="t" l="l"/>
              <a:pathLst>
                <a:path h="612853" w="626268">
                  <a:moveTo>
                    <a:pt x="0" y="0"/>
                  </a:moveTo>
                  <a:lnTo>
                    <a:pt x="626268" y="0"/>
                  </a:lnTo>
                  <a:lnTo>
                    <a:pt x="626268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2"/>
              <a:stretch>
                <a:fillRect l="0" t="-10899" r="0" b="-1089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01250" y="1475217"/>
            <a:ext cx="3209303" cy="3141998"/>
            <a:chOff x="0" y="0"/>
            <a:chExt cx="625981" cy="612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5981" cy="612853"/>
            </a:xfrm>
            <a:custGeom>
              <a:avLst/>
              <a:gdLst/>
              <a:ahLst/>
              <a:cxnLst/>
              <a:rect r="r" b="b" t="t" l="l"/>
              <a:pathLst>
                <a:path h="612853" w="625981">
                  <a:moveTo>
                    <a:pt x="0" y="0"/>
                  </a:moveTo>
                  <a:lnTo>
                    <a:pt x="625981" y="0"/>
                  </a:lnTo>
                  <a:lnTo>
                    <a:pt x="625981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3"/>
              <a:stretch>
                <a:fillRect l="0" t="-10871" r="0" b="-1087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70743" y="1513545"/>
            <a:ext cx="3206362" cy="3112551"/>
            <a:chOff x="0" y="0"/>
            <a:chExt cx="631325" cy="612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325" cy="612853"/>
            </a:xfrm>
            <a:custGeom>
              <a:avLst/>
              <a:gdLst/>
              <a:ahLst/>
              <a:cxnLst/>
              <a:rect r="r" b="b" t="t" l="l"/>
              <a:pathLst>
                <a:path h="612853" w="631325">
                  <a:moveTo>
                    <a:pt x="0" y="0"/>
                  </a:moveTo>
                  <a:lnTo>
                    <a:pt x="631325" y="0"/>
                  </a:lnTo>
                  <a:lnTo>
                    <a:pt x="631325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4"/>
              <a:stretch>
                <a:fillRect l="0" t="-11317" r="0" b="-113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78213" y="5870947"/>
            <a:ext cx="3189208" cy="3111915"/>
            <a:chOff x="0" y="0"/>
            <a:chExt cx="628075" cy="612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8075" cy="612853"/>
            </a:xfrm>
            <a:custGeom>
              <a:avLst/>
              <a:gdLst/>
              <a:ahLst/>
              <a:cxnLst/>
              <a:rect r="r" b="b" t="t" l="l"/>
              <a:pathLst>
                <a:path h="612853" w="628075">
                  <a:moveTo>
                    <a:pt x="0" y="0"/>
                  </a:moveTo>
                  <a:lnTo>
                    <a:pt x="628075" y="0"/>
                  </a:lnTo>
                  <a:lnTo>
                    <a:pt x="628075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5"/>
              <a:stretch>
                <a:fillRect l="0" t="-24371" r="0" b="-2437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002721" y="4597665"/>
            <a:ext cx="3209303" cy="967129"/>
            <a:chOff x="0" y="0"/>
            <a:chExt cx="149194" cy="44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194" cy="44960"/>
            </a:xfrm>
            <a:custGeom>
              <a:avLst/>
              <a:gdLst/>
              <a:ahLst/>
              <a:cxnLst/>
              <a:rect r="r" b="b" t="t" l="l"/>
              <a:pathLst>
                <a:path h="44960" w="149194">
                  <a:moveTo>
                    <a:pt x="0" y="0"/>
                  </a:moveTo>
                  <a:lnTo>
                    <a:pt x="149194" y="0"/>
                  </a:lnTo>
                  <a:lnTo>
                    <a:pt x="149194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9194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933226" y="4597665"/>
            <a:ext cx="3210774" cy="967129"/>
            <a:chOff x="0" y="0"/>
            <a:chExt cx="149263" cy="44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263" cy="44960"/>
            </a:xfrm>
            <a:custGeom>
              <a:avLst/>
              <a:gdLst/>
              <a:ahLst/>
              <a:cxnLst/>
              <a:rect r="r" b="b" t="t" l="l"/>
              <a:pathLst>
                <a:path h="44960" w="149263">
                  <a:moveTo>
                    <a:pt x="0" y="0"/>
                  </a:moveTo>
                  <a:lnTo>
                    <a:pt x="149263" y="0"/>
                  </a:lnTo>
                  <a:lnTo>
                    <a:pt x="149263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9263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978213" y="8963500"/>
            <a:ext cx="3189208" cy="957869"/>
            <a:chOff x="0" y="0"/>
            <a:chExt cx="149693" cy="44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9693" cy="44960"/>
            </a:xfrm>
            <a:custGeom>
              <a:avLst/>
              <a:gdLst/>
              <a:ahLst/>
              <a:cxnLst/>
              <a:rect r="r" b="b" t="t" l="l"/>
              <a:pathLst>
                <a:path h="44960" w="149693">
                  <a:moveTo>
                    <a:pt x="0" y="0"/>
                  </a:moveTo>
                  <a:lnTo>
                    <a:pt x="149693" y="0"/>
                  </a:lnTo>
                  <a:lnTo>
                    <a:pt x="149693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9693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069274" y="4606730"/>
            <a:ext cx="3206362" cy="958065"/>
            <a:chOff x="0" y="0"/>
            <a:chExt cx="150468" cy="44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468" cy="44960"/>
            </a:xfrm>
            <a:custGeom>
              <a:avLst/>
              <a:gdLst/>
              <a:ahLst/>
              <a:cxnLst/>
              <a:rect r="r" b="b" t="t" l="l"/>
              <a:pathLst>
                <a:path h="44960" w="150468">
                  <a:moveTo>
                    <a:pt x="0" y="0"/>
                  </a:moveTo>
                  <a:lnTo>
                    <a:pt x="150468" y="0"/>
                  </a:lnTo>
                  <a:lnTo>
                    <a:pt x="150468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0468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001063" y="5869894"/>
            <a:ext cx="3189208" cy="3111866"/>
            <a:chOff x="0" y="0"/>
            <a:chExt cx="628085" cy="6128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8085" cy="612853"/>
            </a:xfrm>
            <a:custGeom>
              <a:avLst/>
              <a:gdLst/>
              <a:ahLst/>
              <a:cxnLst/>
              <a:rect r="r" b="b" t="t" l="l"/>
              <a:pathLst>
                <a:path h="612853" w="628085">
                  <a:moveTo>
                    <a:pt x="0" y="0"/>
                  </a:moveTo>
                  <a:lnTo>
                    <a:pt x="628085" y="0"/>
                  </a:lnTo>
                  <a:lnTo>
                    <a:pt x="628085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6"/>
              <a:stretch>
                <a:fillRect l="0" t="-4614" r="-118" b="-2951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23913" y="5870947"/>
            <a:ext cx="3124812" cy="3111057"/>
            <a:chOff x="0" y="0"/>
            <a:chExt cx="615563" cy="6128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5563" cy="612853"/>
            </a:xfrm>
            <a:custGeom>
              <a:avLst/>
              <a:gdLst/>
              <a:ahLst/>
              <a:cxnLst/>
              <a:rect r="r" b="b" t="t" l="l"/>
              <a:pathLst>
                <a:path h="612853" w="615563">
                  <a:moveTo>
                    <a:pt x="0" y="0"/>
                  </a:moveTo>
                  <a:lnTo>
                    <a:pt x="615563" y="0"/>
                  </a:lnTo>
                  <a:lnTo>
                    <a:pt x="615563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7"/>
              <a:stretch>
                <a:fillRect l="0" t="-17230" r="0" b="-1723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025345" y="8962647"/>
            <a:ext cx="3124812" cy="957605"/>
            <a:chOff x="0" y="0"/>
            <a:chExt cx="146711" cy="44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711" cy="44960"/>
            </a:xfrm>
            <a:custGeom>
              <a:avLst/>
              <a:gdLst/>
              <a:ahLst/>
              <a:cxnLst/>
              <a:rect r="r" b="b" t="t" l="l"/>
              <a:pathLst>
                <a:path h="44960" w="146711">
                  <a:moveTo>
                    <a:pt x="0" y="0"/>
                  </a:moveTo>
                  <a:lnTo>
                    <a:pt x="146711" y="0"/>
                  </a:lnTo>
                  <a:lnTo>
                    <a:pt x="146711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6711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01063" y="8962398"/>
            <a:ext cx="3189208" cy="957854"/>
            <a:chOff x="0" y="0"/>
            <a:chExt cx="149696" cy="44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9696" cy="44960"/>
            </a:xfrm>
            <a:custGeom>
              <a:avLst/>
              <a:gdLst/>
              <a:ahLst/>
              <a:cxnLst/>
              <a:rect r="r" b="b" t="t" l="l"/>
              <a:pathLst>
                <a:path h="44960" w="149696">
                  <a:moveTo>
                    <a:pt x="0" y="0"/>
                  </a:moveTo>
                  <a:lnTo>
                    <a:pt x="149696" y="0"/>
                  </a:lnTo>
                  <a:lnTo>
                    <a:pt x="149696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49696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15704" y="1475217"/>
            <a:ext cx="3189208" cy="3141998"/>
            <a:chOff x="0" y="0"/>
            <a:chExt cx="622062" cy="61285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062" cy="612853"/>
            </a:xfrm>
            <a:custGeom>
              <a:avLst/>
              <a:gdLst/>
              <a:ahLst/>
              <a:cxnLst/>
              <a:rect r="r" b="b" t="t" l="l"/>
              <a:pathLst>
                <a:path h="612853" w="622062">
                  <a:moveTo>
                    <a:pt x="0" y="0"/>
                  </a:moveTo>
                  <a:lnTo>
                    <a:pt x="622062" y="0"/>
                  </a:lnTo>
                  <a:lnTo>
                    <a:pt x="622062" y="612853"/>
                  </a:lnTo>
                  <a:lnTo>
                    <a:pt x="0" y="612853"/>
                  </a:lnTo>
                  <a:close/>
                </a:path>
              </a:pathLst>
            </a:custGeom>
            <a:blipFill>
              <a:blip r:embed="rId8"/>
              <a:stretch>
                <a:fillRect l="0" t="-10490" r="0" b="-1049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015704" y="4597665"/>
            <a:ext cx="3189208" cy="967129"/>
            <a:chOff x="0" y="0"/>
            <a:chExt cx="148260" cy="44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8260" cy="44960"/>
            </a:xfrm>
            <a:custGeom>
              <a:avLst/>
              <a:gdLst/>
              <a:ahLst/>
              <a:cxnLst/>
              <a:rect r="r" b="b" t="t" l="l"/>
              <a:pathLst>
                <a:path h="44960" w="148260">
                  <a:moveTo>
                    <a:pt x="0" y="0"/>
                  </a:moveTo>
                  <a:lnTo>
                    <a:pt x="148260" y="0"/>
                  </a:lnTo>
                  <a:lnTo>
                    <a:pt x="148260" y="44960"/>
                  </a:lnTo>
                  <a:lnTo>
                    <a:pt x="0" y="44960"/>
                  </a:lnTo>
                  <a:close/>
                </a:path>
              </a:pathLst>
            </a:custGeom>
            <a:solidFill>
              <a:srgbClr val="E6C36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48260" cy="83060"/>
            </a:xfrm>
            <a:prstGeom prst="rect">
              <a:avLst/>
            </a:prstGeom>
          </p:spPr>
          <p:txBody>
            <a:bodyPr anchor="ctr" rtlCol="false" tIns="362344" lIns="362344" bIns="362344" rIns="362344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7235192" y="9635701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176" t="0" r="-22198" b="-50641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452509" y="5073037"/>
            <a:ext cx="217220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Abreu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996616" y="4856852"/>
            <a:ext cx="3083995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Fernanda Gonçalo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57918" y="5073037"/>
            <a:ext cx="2498909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Muniz de Jesus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155548" y="4856852"/>
            <a:ext cx="2903649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Gabriel dos Santos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447724" y="5077110"/>
            <a:ext cx="2449462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Feitosa da Silva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16223" y="4864112"/>
            <a:ext cx="2912464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Leonardo Tomas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494008" y="9433773"/>
            <a:ext cx="215761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Pereira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94008" y="9220844"/>
            <a:ext cx="2157618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Marcos Lopis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516858" y="9432662"/>
            <a:ext cx="2157618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Frino dos Santos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064027" y="9219739"/>
            <a:ext cx="3063281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Miguel Igor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1191" y="9432774"/>
            <a:ext cx="2433121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Angelo Ibrahim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74148" y="9219938"/>
            <a:ext cx="2827205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Nicolas Mazza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36508" y="494142"/>
            <a:ext cx="168882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 Vastiny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472655" y="5073037"/>
            <a:ext cx="229681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Santos Nascimento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78667" y="4856852"/>
            <a:ext cx="3063281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Eduardo Ribeiro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5761" y="1875961"/>
            <a:ext cx="14891607" cy="3278969"/>
            <a:chOff x="0" y="0"/>
            <a:chExt cx="19855476" cy="437195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855476" cy="4371959"/>
              <a:chOff x="0" y="0"/>
              <a:chExt cx="485434" cy="10688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5434" cy="106887"/>
              </a:xfrm>
              <a:custGeom>
                <a:avLst/>
                <a:gdLst/>
                <a:ahLst/>
                <a:cxnLst/>
                <a:rect r="r" b="b" t="t" l="l"/>
                <a:pathLst>
                  <a:path h="106887" w="485434">
                    <a:moveTo>
                      <a:pt x="9358" y="0"/>
                    </a:moveTo>
                    <a:lnTo>
                      <a:pt x="476076" y="0"/>
                    </a:lnTo>
                    <a:cubicBezTo>
                      <a:pt x="478558" y="0"/>
                      <a:pt x="480938" y="986"/>
                      <a:pt x="482693" y="2741"/>
                    </a:cubicBezTo>
                    <a:cubicBezTo>
                      <a:pt x="484448" y="4496"/>
                      <a:pt x="485434" y="6876"/>
                      <a:pt x="485434" y="9358"/>
                    </a:cubicBezTo>
                    <a:lnTo>
                      <a:pt x="485434" y="97529"/>
                    </a:lnTo>
                    <a:cubicBezTo>
                      <a:pt x="485434" y="100011"/>
                      <a:pt x="484448" y="102391"/>
                      <a:pt x="482693" y="104146"/>
                    </a:cubicBezTo>
                    <a:cubicBezTo>
                      <a:pt x="480938" y="105901"/>
                      <a:pt x="478558" y="106887"/>
                      <a:pt x="476076" y="106887"/>
                    </a:cubicBezTo>
                    <a:lnTo>
                      <a:pt x="9358" y="106887"/>
                    </a:lnTo>
                    <a:cubicBezTo>
                      <a:pt x="6876" y="106887"/>
                      <a:pt x="4496" y="105901"/>
                      <a:pt x="2741" y="104146"/>
                    </a:cubicBezTo>
                    <a:cubicBezTo>
                      <a:pt x="986" y="102391"/>
                      <a:pt x="0" y="100011"/>
                      <a:pt x="0" y="97529"/>
                    </a:cubicBezTo>
                    <a:lnTo>
                      <a:pt x="0" y="9358"/>
                    </a:lnTo>
                    <a:cubicBezTo>
                      <a:pt x="0" y="6876"/>
                      <a:pt x="986" y="4496"/>
                      <a:pt x="2741" y="2741"/>
                    </a:cubicBezTo>
                    <a:cubicBezTo>
                      <a:pt x="4496" y="986"/>
                      <a:pt x="6876" y="0"/>
                      <a:pt x="93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5434" cy="144987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22506" y="401629"/>
              <a:ext cx="18410464" cy="351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VASTINY =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representa a união de diferentes pessoas e ideias para criar algo maior. É uma identidade criada para representar uma infinidade de possibilidades através da tecnologia.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VAST + UNITY + I</a:t>
              </a: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NFINITY.</a:t>
              </a:r>
            </a:p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VAST =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amplo, vasto, cheio de possibilidades</a:t>
              </a:r>
            </a:p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UNITY =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união, unidade</a:t>
              </a:r>
            </a:p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INFINITY =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infinitas possibi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lidades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99794" y="1325461"/>
            <a:ext cx="177729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3999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5761" y="6360331"/>
            <a:ext cx="14891607" cy="2897969"/>
            <a:chOff x="0" y="0"/>
            <a:chExt cx="19855476" cy="386395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855476" cy="3863959"/>
              <a:chOff x="0" y="0"/>
              <a:chExt cx="485434" cy="9446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85434" cy="94467"/>
              </a:xfrm>
              <a:custGeom>
                <a:avLst/>
                <a:gdLst/>
                <a:ahLst/>
                <a:cxnLst/>
                <a:rect r="r" b="b" t="t" l="l"/>
                <a:pathLst>
                  <a:path h="94467" w="485434">
                    <a:moveTo>
                      <a:pt x="9358" y="0"/>
                    </a:moveTo>
                    <a:lnTo>
                      <a:pt x="476076" y="0"/>
                    </a:lnTo>
                    <a:cubicBezTo>
                      <a:pt x="478558" y="0"/>
                      <a:pt x="480938" y="986"/>
                      <a:pt x="482693" y="2741"/>
                    </a:cubicBezTo>
                    <a:cubicBezTo>
                      <a:pt x="484448" y="4496"/>
                      <a:pt x="485434" y="6876"/>
                      <a:pt x="485434" y="9358"/>
                    </a:cubicBezTo>
                    <a:lnTo>
                      <a:pt x="485434" y="85110"/>
                    </a:lnTo>
                    <a:cubicBezTo>
                      <a:pt x="485434" y="87591"/>
                      <a:pt x="484448" y="89972"/>
                      <a:pt x="482693" y="91727"/>
                    </a:cubicBezTo>
                    <a:cubicBezTo>
                      <a:pt x="480938" y="93482"/>
                      <a:pt x="478558" y="94467"/>
                      <a:pt x="476076" y="94467"/>
                    </a:cubicBezTo>
                    <a:lnTo>
                      <a:pt x="9358" y="94467"/>
                    </a:lnTo>
                    <a:cubicBezTo>
                      <a:pt x="6876" y="94467"/>
                      <a:pt x="4496" y="93482"/>
                      <a:pt x="2741" y="91727"/>
                    </a:cubicBezTo>
                    <a:cubicBezTo>
                      <a:pt x="986" y="89972"/>
                      <a:pt x="0" y="87591"/>
                      <a:pt x="0" y="85110"/>
                    </a:cubicBezTo>
                    <a:lnTo>
                      <a:pt x="0" y="9358"/>
                    </a:lnTo>
                    <a:cubicBezTo>
                      <a:pt x="0" y="6876"/>
                      <a:pt x="986" y="4496"/>
                      <a:pt x="2741" y="2741"/>
                    </a:cubicBezTo>
                    <a:cubicBezTo>
                      <a:pt x="4496" y="986"/>
                      <a:pt x="6876" y="0"/>
                      <a:pt x="93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85434" cy="132567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95809" y="401629"/>
              <a:ext cx="19063857" cy="3003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VAST UNITY. INFINITE POSSIBILITIES = 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“Quando diferentes ideias e habilidades se unem, as possibilidades se tornam infinitas.”</a:t>
              </a:r>
            </a:p>
            <a:p>
              <a:pPr algn="l">
                <a:lnSpc>
                  <a:spcPts val="3000"/>
                </a:lnSpc>
              </a:pPr>
            </a:p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“União vasta”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pode soar um pouco abstrato em português. Porém “vasta” se refere à diversidade e amplitude das pessoas, conhecimentos e ideias que compõem o grupo trazendo </a:t>
              </a: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“infinitas possibilidades”</a:t>
              </a:r>
              <a:r>
                <a:rPr lang="en-US" sz="20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que surgem dessa união.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99794" y="5845981"/>
            <a:ext cx="471728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3999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 que inspira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521254" y="332891"/>
            <a:ext cx="6180621" cy="1168782"/>
          </a:xfrm>
          <a:custGeom>
            <a:avLst/>
            <a:gdLst/>
            <a:ahLst/>
            <a:cxnLst/>
            <a:rect r="r" b="b" t="t" l="l"/>
            <a:pathLst>
              <a:path h="1168782" w="6180621">
                <a:moveTo>
                  <a:pt x="0" y="0"/>
                </a:moveTo>
                <a:lnTo>
                  <a:pt x="6180621" y="0"/>
                </a:lnTo>
                <a:lnTo>
                  <a:pt x="6180621" y="1168782"/>
                </a:lnTo>
                <a:lnTo>
                  <a:pt x="0" y="1168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7613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47321" y="1047750"/>
            <a:ext cx="4762500" cy="3810000"/>
            <a:chOff x="0" y="0"/>
            <a:chExt cx="178031" cy="1424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031" cy="142425"/>
            </a:xfrm>
            <a:custGeom>
              <a:avLst/>
              <a:gdLst/>
              <a:ahLst/>
              <a:cxnLst/>
              <a:rect r="r" b="b" t="t" l="l"/>
              <a:pathLst>
                <a:path h="142425" w="178031">
                  <a:moveTo>
                    <a:pt x="0" y="0"/>
                  </a:moveTo>
                  <a:lnTo>
                    <a:pt x="178031" y="0"/>
                  </a:lnTo>
                  <a:lnTo>
                    <a:pt x="178031" y="142425"/>
                  </a:lnTo>
                  <a:lnTo>
                    <a:pt x="0" y="142425"/>
                  </a:lnTo>
                  <a:close/>
                </a:path>
              </a:pathLst>
            </a:custGeom>
            <a:solidFill>
              <a:srgbClr val="0F2C59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8031" cy="1805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10882" y="3774118"/>
            <a:ext cx="429688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Azul Escuro Deep Tech 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Tipografia e 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1144" y="1284270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#0F2C59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157625" y="1047750"/>
            <a:ext cx="4762500" cy="3810000"/>
            <a:chOff x="0" y="0"/>
            <a:chExt cx="178031" cy="1424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031" cy="142425"/>
            </a:xfrm>
            <a:custGeom>
              <a:avLst/>
              <a:gdLst/>
              <a:ahLst/>
              <a:cxnLst/>
              <a:rect r="r" b="b" t="t" l="l"/>
              <a:pathLst>
                <a:path h="142425" w="178031">
                  <a:moveTo>
                    <a:pt x="0" y="0"/>
                  </a:moveTo>
                  <a:lnTo>
                    <a:pt x="178031" y="0"/>
                  </a:lnTo>
                  <a:lnTo>
                    <a:pt x="178031" y="142425"/>
                  </a:lnTo>
                  <a:lnTo>
                    <a:pt x="0" y="142425"/>
                  </a:lnTo>
                  <a:close/>
                </a:path>
              </a:pathLst>
            </a:custGeom>
            <a:solidFill>
              <a:srgbClr val="1E51A4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8031" cy="1805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90433" y="3774118"/>
            <a:ext cx="429688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Azul Cobalto / Elétrico</a:t>
            </a:r>
            <a:r>
              <a:rPr lang="en-US" sz="2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Sombra e Transição do Ícone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51448" y="1284270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#1E51A4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67875" y="5143500"/>
            <a:ext cx="10172805" cy="3810000"/>
            <a:chOff x="0" y="0"/>
            <a:chExt cx="13563739" cy="5080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350000" cy="5080000"/>
              <a:chOff x="0" y="0"/>
              <a:chExt cx="178031" cy="14242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8031" cy="142425"/>
              </a:xfrm>
              <a:custGeom>
                <a:avLst/>
                <a:gdLst/>
                <a:ahLst/>
                <a:cxnLst/>
                <a:rect r="r" b="b" t="t" l="l"/>
                <a:pathLst>
                  <a:path h="142425" w="178031">
                    <a:moveTo>
                      <a:pt x="0" y="0"/>
                    </a:moveTo>
                    <a:lnTo>
                      <a:pt x="178031" y="0"/>
                    </a:lnTo>
                    <a:lnTo>
                      <a:pt x="178031" y="142425"/>
                    </a:lnTo>
                    <a:lnTo>
                      <a:pt x="0" y="142425"/>
                    </a:lnTo>
                    <a:close/>
                  </a:path>
                </a:pathLst>
              </a:custGeom>
              <a:solidFill>
                <a:srgbClr val="E6C363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78031" cy="180525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1414" y="3654207"/>
              <a:ext cx="5729181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Dourado Champagne</a:t>
              </a:r>
            </a:p>
            <a:p>
              <a:pPr algn="l">
                <a:lnSpc>
                  <a:spcPts val="30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Luz e Destaques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858431" y="286785"/>
              <a:ext cx="2633139" cy="516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</a:pPr>
              <a:r>
                <a:rPr lang="en-US" b="true" sz="296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#E6C363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7213739" y="0"/>
              <a:ext cx="6350000" cy="5080000"/>
              <a:chOff x="0" y="0"/>
              <a:chExt cx="178031" cy="14242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8031" cy="142425"/>
              </a:xfrm>
              <a:custGeom>
                <a:avLst/>
                <a:gdLst/>
                <a:ahLst/>
                <a:cxnLst/>
                <a:rect r="r" b="b" t="t" l="l"/>
                <a:pathLst>
                  <a:path h="142425" w="178031">
                    <a:moveTo>
                      <a:pt x="0" y="0"/>
                    </a:moveTo>
                    <a:lnTo>
                      <a:pt x="178031" y="0"/>
                    </a:lnTo>
                    <a:lnTo>
                      <a:pt x="178031" y="142425"/>
                    </a:lnTo>
                    <a:lnTo>
                      <a:pt x="0" y="142425"/>
                    </a:lnTo>
                    <a:close/>
                  </a:path>
                </a:pathLst>
              </a:custGeom>
              <a:solidFill>
                <a:srgbClr val="9E7B31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78031" cy="180525"/>
              </a:xfrm>
              <a:prstGeom prst="rect">
                <a:avLst/>
              </a:prstGeom>
            </p:spPr>
            <p:txBody>
              <a:bodyPr anchor="ctr" rtlCol="false" tIns="362440" lIns="362440" bIns="362440" rIns="36244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7524149" y="3654207"/>
              <a:ext cx="5729181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</a:t>
              </a:r>
              <a:r>
                <a:rPr lang="en-US" sz="2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urado Envelhecido / Metálico</a:t>
              </a:r>
            </a:p>
            <a:p>
              <a:pPr algn="l">
                <a:lnSpc>
                  <a:spcPts val="3000"/>
                </a:lnSpc>
              </a:pPr>
              <a:r>
                <a:rPr lang="en-US" sz="2000" i="true">
                  <a:solidFill>
                    <a:srgbClr val="FFFFFF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Sombra do Dourado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072170" y="286785"/>
              <a:ext cx="2633139" cy="5162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</a:pPr>
              <a:r>
                <a:rPr lang="en-US" b="true" sz="296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#9E7B31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7875" y="1047750"/>
            <a:ext cx="4762500" cy="3810000"/>
            <a:chOff x="0" y="0"/>
            <a:chExt cx="178031" cy="1424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8031" cy="142425"/>
            </a:xfrm>
            <a:custGeom>
              <a:avLst/>
              <a:gdLst/>
              <a:ahLst/>
              <a:cxnLst/>
              <a:rect r="r" b="b" t="t" l="l"/>
              <a:pathLst>
                <a:path h="142425" w="178031">
                  <a:moveTo>
                    <a:pt x="0" y="0"/>
                  </a:moveTo>
                  <a:lnTo>
                    <a:pt x="178031" y="0"/>
                  </a:lnTo>
                  <a:lnTo>
                    <a:pt x="178031" y="142425"/>
                  </a:lnTo>
                  <a:lnTo>
                    <a:pt x="0" y="14242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8031" cy="1805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067874" y="1340365"/>
            <a:ext cx="3479333" cy="2095286"/>
          </a:xfrm>
          <a:custGeom>
            <a:avLst/>
            <a:gdLst/>
            <a:ahLst/>
            <a:cxnLst/>
            <a:rect r="r" b="b" t="t" l="l"/>
            <a:pathLst>
              <a:path h="2095286" w="3479333">
                <a:moveTo>
                  <a:pt x="0" y="0"/>
                </a:moveTo>
                <a:lnTo>
                  <a:pt x="3479333" y="0"/>
                </a:lnTo>
                <a:lnTo>
                  <a:pt x="3479333" y="2095286"/>
                </a:lnTo>
                <a:lnTo>
                  <a:pt x="0" y="2095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822" t="0" r="-24367" b="-5064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157625" y="5143500"/>
            <a:ext cx="4762500" cy="3810000"/>
            <a:chOff x="0" y="0"/>
            <a:chExt cx="178031" cy="1424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8031" cy="142425"/>
            </a:xfrm>
            <a:custGeom>
              <a:avLst/>
              <a:gdLst/>
              <a:ahLst/>
              <a:cxnLst/>
              <a:rect r="r" b="b" t="t" l="l"/>
              <a:pathLst>
                <a:path h="142425" w="178031">
                  <a:moveTo>
                    <a:pt x="0" y="0"/>
                  </a:moveTo>
                  <a:lnTo>
                    <a:pt x="178031" y="0"/>
                  </a:lnTo>
                  <a:lnTo>
                    <a:pt x="178031" y="142425"/>
                  </a:lnTo>
                  <a:lnTo>
                    <a:pt x="0" y="142425"/>
                  </a:lnTo>
                  <a:close/>
                </a:path>
              </a:pathLst>
            </a:custGeom>
            <a:solidFill>
              <a:srgbClr val="F8F6F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8031" cy="18052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421186" y="7869868"/>
            <a:ext cx="4296886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Off-White</a:t>
            </a: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/ Creme Sutil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Fundo da Apresentação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51448" y="5380020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#F8F6F0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715486" y="3435651"/>
            <a:ext cx="4184110" cy="791233"/>
          </a:xfrm>
          <a:custGeom>
            <a:avLst/>
            <a:gdLst/>
            <a:ahLst/>
            <a:cxnLst/>
            <a:rect r="r" b="b" t="t" l="l"/>
            <a:pathLst>
              <a:path h="791233" w="4184110">
                <a:moveTo>
                  <a:pt x="0" y="0"/>
                </a:moveTo>
                <a:lnTo>
                  <a:pt x="4184110" y="0"/>
                </a:lnTo>
                <a:lnTo>
                  <a:pt x="4184110" y="791233"/>
                </a:lnTo>
                <a:lnTo>
                  <a:pt x="0" y="791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97613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286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8401" y="2731765"/>
            <a:ext cx="4884965" cy="3489030"/>
            <a:chOff x="0" y="0"/>
            <a:chExt cx="159239" cy="1137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239" cy="113735"/>
            </a:xfrm>
            <a:custGeom>
              <a:avLst/>
              <a:gdLst/>
              <a:ahLst/>
              <a:cxnLst/>
              <a:rect r="r" b="b" t="t" l="l"/>
              <a:pathLst>
                <a:path h="113735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85208"/>
                  </a:lnTo>
                  <a:cubicBezTo>
                    <a:pt x="159239" y="92773"/>
                    <a:pt x="156234" y="100029"/>
                    <a:pt x="150884" y="105379"/>
                  </a:cubicBezTo>
                  <a:cubicBezTo>
                    <a:pt x="145534" y="110729"/>
                    <a:pt x="138278" y="113735"/>
                    <a:pt x="130712" y="113735"/>
                  </a:cubicBezTo>
                  <a:lnTo>
                    <a:pt x="28527" y="113735"/>
                  </a:lnTo>
                  <a:cubicBezTo>
                    <a:pt x="20961" y="113735"/>
                    <a:pt x="13705" y="110729"/>
                    <a:pt x="8355" y="105379"/>
                  </a:cubicBezTo>
                  <a:cubicBezTo>
                    <a:pt x="3006" y="100029"/>
                    <a:pt x="0" y="92773"/>
                    <a:pt x="0" y="85208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0F2C59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9239" cy="15183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8401" y="4476280"/>
            <a:ext cx="4884965" cy="3078955"/>
            <a:chOff x="0" y="0"/>
            <a:chExt cx="159239" cy="1003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39" cy="100367"/>
            </a:xfrm>
            <a:custGeom>
              <a:avLst/>
              <a:gdLst/>
              <a:ahLst/>
              <a:cxnLst/>
              <a:rect r="r" b="b" t="t" l="l"/>
              <a:pathLst>
                <a:path h="100367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71840"/>
                  </a:lnTo>
                  <a:cubicBezTo>
                    <a:pt x="159239" y="79406"/>
                    <a:pt x="156234" y="86662"/>
                    <a:pt x="150884" y="92012"/>
                  </a:cubicBezTo>
                  <a:cubicBezTo>
                    <a:pt x="145534" y="97362"/>
                    <a:pt x="138278" y="100367"/>
                    <a:pt x="130712" y="100367"/>
                  </a:cubicBezTo>
                  <a:lnTo>
                    <a:pt x="28527" y="100367"/>
                  </a:lnTo>
                  <a:cubicBezTo>
                    <a:pt x="20961" y="100367"/>
                    <a:pt x="13705" y="97362"/>
                    <a:pt x="8355" y="92012"/>
                  </a:cubicBezTo>
                  <a:cubicBezTo>
                    <a:pt x="3006" y="86662"/>
                    <a:pt x="0" y="79406"/>
                    <a:pt x="0" y="71840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F8F6F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9239" cy="13846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01517" y="2731765"/>
            <a:ext cx="4884965" cy="3489030"/>
            <a:chOff x="0" y="0"/>
            <a:chExt cx="159239" cy="1137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239" cy="113735"/>
            </a:xfrm>
            <a:custGeom>
              <a:avLst/>
              <a:gdLst/>
              <a:ahLst/>
              <a:cxnLst/>
              <a:rect r="r" b="b" t="t" l="l"/>
              <a:pathLst>
                <a:path h="113735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85208"/>
                  </a:lnTo>
                  <a:cubicBezTo>
                    <a:pt x="159239" y="92773"/>
                    <a:pt x="156234" y="100029"/>
                    <a:pt x="150884" y="105379"/>
                  </a:cubicBezTo>
                  <a:cubicBezTo>
                    <a:pt x="145534" y="110729"/>
                    <a:pt x="138278" y="113735"/>
                    <a:pt x="130712" y="113735"/>
                  </a:cubicBezTo>
                  <a:lnTo>
                    <a:pt x="28527" y="113735"/>
                  </a:lnTo>
                  <a:cubicBezTo>
                    <a:pt x="20961" y="113735"/>
                    <a:pt x="13705" y="110729"/>
                    <a:pt x="8355" y="105379"/>
                  </a:cubicBezTo>
                  <a:cubicBezTo>
                    <a:pt x="3006" y="100029"/>
                    <a:pt x="0" y="92773"/>
                    <a:pt x="0" y="85208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DD9D03"/>
            </a:solidFill>
            <a:ln w="2381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9239" cy="15183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01517" y="4476280"/>
            <a:ext cx="4884965" cy="3078955"/>
            <a:chOff x="0" y="0"/>
            <a:chExt cx="159239" cy="1003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239" cy="100367"/>
            </a:xfrm>
            <a:custGeom>
              <a:avLst/>
              <a:gdLst/>
              <a:ahLst/>
              <a:cxnLst/>
              <a:rect r="r" b="b" t="t" l="l"/>
              <a:pathLst>
                <a:path h="100367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71840"/>
                  </a:lnTo>
                  <a:cubicBezTo>
                    <a:pt x="159239" y="79406"/>
                    <a:pt x="156234" y="86662"/>
                    <a:pt x="150884" y="92012"/>
                  </a:cubicBezTo>
                  <a:cubicBezTo>
                    <a:pt x="145534" y="97362"/>
                    <a:pt x="138278" y="100367"/>
                    <a:pt x="130712" y="100367"/>
                  </a:cubicBezTo>
                  <a:lnTo>
                    <a:pt x="28527" y="100367"/>
                  </a:lnTo>
                  <a:cubicBezTo>
                    <a:pt x="20961" y="100367"/>
                    <a:pt x="13705" y="97362"/>
                    <a:pt x="8355" y="92012"/>
                  </a:cubicBezTo>
                  <a:cubicBezTo>
                    <a:pt x="3006" y="86662"/>
                    <a:pt x="0" y="79406"/>
                    <a:pt x="0" y="71840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F8F6F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9239" cy="13846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74335" y="2731765"/>
            <a:ext cx="4884965" cy="3489030"/>
            <a:chOff x="0" y="0"/>
            <a:chExt cx="159239" cy="1137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9239" cy="113735"/>
            </a:xfrm>
            <a:custGeom>
              <a:avLst/>
              <a:gdLst/>
              <a:ahLst/>
              <a:cxnLst/>
              <a:rect r="r" b="b" t="t" l="l"/>
              <a:pathLst>
                <a:path h="113735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85208"/>
                  </a:lnTo>
                  <a:cubicBezTo>
                    <a:pt x="159239" y="92773"/>
                    <a:pt x="156234" y="100029"/>
                    <a:pt x="150884" y="105379"/>
                  </a:cubicBezTo>
                  <a:cubicBezTo>
                    <a:pt x="145534" y="110729"/>
                    <a:pt x="138278" y="113735"/>
                    <a:pt x="130712" y="113735"/>
                  </a:cubicBezTo>
                  <a:lnTo>
                    <a:pt x="28527" y="113735"/>
                  </a:lnTo>
                  <a:cubicBezTo>
                    <a:pt x="20961" y="113735"/>
                    <a:pt x="13705" y="110729"/>
                    <a:pt x="8355" y="105379"/>
                  </a:cubicBezTo>
                  <a:cubicBezTo>
                    <a:pt x="3006" y="100029"/>
                    <a:pt x="0" y="92773"/>
                    <a:pt x="0" y="85208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0F2C59"/>
            </a:solidFill>
            <a:ln w="2381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9239" cy="151835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74335" y="4476280"/>
            <a:ext cx="4884965" cy="3078955"/>
            <a:chOff x="0" y="0"/>
            <a:chExt cx="159239" cy="1003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9239" cy="100367"/>
            </a:xfrm>
            <a:custGeom>
              <a:avLst/>
              <a:gdLst/>
              <a:ahLst/>
              <a:cxnLst/>
              <a:rect r="r" b="b" t="t" l="l"/>
              <a:pathLst>
                <a:path h="100367" w="159239">
                  <a:moveTo>
                    <a:pt x="28527" y="0"/>
                  </a:moveTo>
                  <a:lnTo>
                    <a:pt x="130712" y="0"/>
                  </a:lnTo>
                  <a:cubicBezTo>
                    <a:pt x="138278" y="0"/>
                    <a:pt x="145534" y="3006"/>
                    <a:pt x="150884" y="8355"/>
                  </a:cubicBezTo>
                  <a:cubicBezTo>
                    <a:pt x="156234" y="13705"/>
                    <a:pt x="159239" y="20961"/>
                    <a:pt x="159239" y="28527"/>
                  </a:cubicBezTo>
                  <a:lnTo>
                    <a:pt x="159239" y="71840"/>
                  </a:lnTo>
                  <a:cubicBezTo>
                    <a:pt x="159239" y="79406"/>
                    <a:pt x="156234" y="86662"/>
                    <a:pt x="150884" y="92012"/>
                  </a:cubicBezTo>
                  <a:cubicBezTo>
                    <a:pt x="145534" y="97362"/>
                    <a:pt x="138278" y="100367"/>
                    <a:pt x="130712" y="100367"/>
                  </a:cubicBezTo>
                  <a:lnTo>
                    <a:pt x="28527" y="100367"/>
                  </a:lnTo>
                  <a:cubicBezTo>
                    <a:pt x="20961" y="100367"/>
                    <a:pt x="13705" y="97362"/>
                    <a:pt x="8355" y="92012"/>
                  </a:cubicBezTo>
                  <a:cubicBezTo>
                    <a:pt x="3006" y="86662"/>
                    <a:pt x="0" y="79406"/>
                    <a:pt x="0" y="71840"/>
                  </a:cubicBezTo>
                  <a:lnTo>
                    <a:pt x="0" y="28527"/>
                  </a:lnTo>
                  <a:cubicBezTo>
                    <a:pt x="0" y="20961"/>
                    <a:pt x="3006" y="13705"/>
                    <a:pt x="8355" y="8355"/>
                  </a:cubicBezTo>
                  <a:cubicBezTo>
                    <a:pt x="13705" y="3006"/>
                    <a:pt x="20961" y="0"/>
                    <a:pt x="28527" y="0"/>
                  </a:cubicBezTo>
                  <a:close/>
                </a:path>
              </a:pathLst>
            </a:custGeom>
            <a:solidFill>
              <a:srgbClr val="F8F6F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59239" cy="138467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3105623" y="2843421"/>
            <a:ext cx="770522" cy="770522"/>
          </a:xfrm>
          <a:custGeom>
            <a:avLst/>
            <a:gdLst/>
            <a:ahLst/>
            <a:cxnLst/>
            <a:rect r="r" b="b" t="t" l="l"/>
            <a:pathLst>
              <a:path h="770522" w="770522">
                <a:moveTo>
                  <a:pt x="0" y="0"/>
                </a:moveTo>
                <a:lnTo>
                  <a:pt x="770522" y="0"/>
                </a:lnTo>
                <a:lnTo>
                  <a:pt x="770522" y="770523"/>
                </a:lnTo>
                <a:lnTo>
                  <a:pt x="0" y="770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572075" y="2970161"/>
            <a:ext cx="1139439" cy="643783"/>
          </a:xfrm>
          <a:custGeom>
            <a:avLst/>
            <a:gdLst/>
            <a:ahLst/>
            <a:cxnLst/>
            <a:rect r="r" b="b" t="t" l="l"/>
            <a:pathLst>
              <a:path h="643783" w="1139439">
                <a:moveTo>
                  <a:pt x="0" y="0"/>
                </a:moveTo>
                <a:lnTo>
                  <a:pt x="1139439" y="0"/>
                </a:lnTo>
                <a:lnTo>
                  <a:pt x="1139439" y="643783"/>
                </a:lnTo>
                <a:lnTo>
                  <a:pt x="0" y="643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79223" y="2891654"/>
            <a:ext cx="875188" cy="800797"/>
          </a:xfrm>
          <a:custGeom>
            <a:avLst/>
            <a:gdLst/>
            <a:ahLst/>
            <a:cxnLst/>
            <a:rect r="r" b="b" t="t" l="l"/>
            <a:pathLst>
              <a:path h="800797" w="875188">
                <a:moveTo>
                  <a:pt x="0" y="0"/>
                </a:moveTo>
                <a:lnTo>
                  <a:pt x="875189" y="0"/>
                </a:lnTo>
                <a:lnTo>
                  <a:pt x="875189" y="800797"/>
                </a:lnTo>
                <a:lnTo>
                  <a:pt x="0" y="800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43233" y="3825801"/>
            <a:ext cx="30559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4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5860" y="5173417"/>
            <a:ext cx="4509450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Transformar pequenos negócios em soluções digitais modernas e funcionais.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16050" y="3835562"/>
            <a:ext cx="30559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4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88867" y="3835562"/>
            <a:ext cx="30559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45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Valores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94900" y="5406780"/>
            <a:ext cx="429378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Democratizar o acesso à infraestrutura digital de qualidade.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00420" y="5305751"/>
            <a:ext cx="3832796" cy="175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023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Inovação</a:t>
            </a:r>
          </a:p>
          <a:p>
            <a:pPr algn="l">
              <a:lnSpc>
                <a:spcPts val="2023"/>
              </a:lnSpc>
            </a:pPr>
          </a:p>
          <a:p>
            <a:pPr algn="l" marL="474979" indent="-237490" lvl="1">
              <a:lnSpc>
                <a:spcPts val="2023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Excelência</a:t>
            </a:r>
          </a:p>
          <a:p>
            <a:pPr algn="l">
              <a:lnSpc>
                <a:spcPts val="2023"/>
              </a:lnSpc>
            </a:pPr>
          </a:p>
          <a:p>
            <a:pPr algn="l" marL="474979" indent="-237490" lvl="1">
              <a:lnSpc>
                <a:spcPts val="2023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Parceria</a:t>
            </a:r>
          </a:p>
          <a:p>
            <a:pPr algn="l">
              <a:lnSpc>
                <a:spcPts val="2023"/>
              </a:lnSpc>
            </a:pPr>
          </a:p>
          <a:p>
            <a:pPr algn="l" marL="474979" indent="-237490" lvl="1">
              <a:lnSpc>
                <a:spcPts val="2023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Inclusão Tecnológica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1094" y="9442528"/>
            <a:ext cx="1688820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Vastiny</a:t>
            </a:r>
          </a:p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Conexões para o futuro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"/>
            <a:ext cx="18288000" cy="10321290"/>
          </a:xfrm>
          <a:custGeom>
            <a:avLst/>
            <a:gdLst/>
            <a:ahLst/>
            <a:cxnLst/>
            <a:rect r="r" b="b" t="t" l="l"/>
            <a:pathLst>
              <a:path h="10321290" w="18288000">
                <a:moveTo>
                  <a:pt x="0" y="0"/>
                </a:moveTo>
                <a:lnTo>
                  <a:pt x="18288000" y="0"/>
                </a:lnTo>
                <a:lnTo>
                  <a:pt x="18288000" y="10321290"/>
                </a:lnTo>
                <a:lnTo>
                  <a:pt x="0" y="1032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42598" y="3677952"/>
            <a:ext cx="849702" cy="849702"/>
          </a:xfrm>
          <a:custGeom>
            <a:avLst/>
            <a:gdLst/>
            <a:ahLst/>
            <a:cxnLst/>
            <a:rect r="r" b="b" t="t" l="l"/>
            <a:pathLst>
              <a:path h="849702" w="849702">
                <a:moveTo>
                  <a:pt x="0" y="0"/>
                </a:moveTo>
                <a:lnTo>
                  <a:pt x="849702" y="0"/>
                </a:lnTo>
                <a:lnTo>
                  <a:pt x="849702" y="849702"/>
                </a:lnTo>
                <a:lnTo>
                  <a:pt x="0" y="849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42598" y="2317611"/>
            <a:ext cx="856544" cy="916090"/>
          </a:xfrm>
          <a:custGeom>
            <a:avLst/>
            <a:gdLst/>
            <a:ahLst/>
            <a:cxnLst/>
            <a:rect r="r" b="b" t="t" l="l"/>
            <a:pathLst>
              <a:path h="916090" w="856544">
                <a:moveTo>
                  <a:pt x="0" y="0"/>
                </a:moveTo>
                <a:lnTo>
                  <a:pt x="856545" y="0"/>
                </a:lnTo>
                <a:lnTo>
                  <a:pt x="856545" y="916090"/>
                </a:lnTo>
                <a:lnTo>
                  <a:pt x="0" y="9160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16142" y="9619397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176" t="0" r="-22198" b="-5064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04444" y="5443705"/>
            <a:ext cx="811263" cy="811263"/>
          </a:xfrm>
          <a:custGeom>
            <a:avLst/>
            <a:gdLst/>
            <a:ahLst/>
            <a:cxnLst/>
            <a:rect r="r" b="b" t="t" l="l"/>
            <a:pathLst>
              <a:path h="811263" w="811263">
                <a:moveTo>
                  <a:pt x="0" y="0"/>
                </a:moveTo>
                <a:lnTo>
                  <a:pt x="811264" y="0"/>
                </a:lnTo>
                <a:lnTo>
                  <a:pt x="811264" y="811263"/>
                </a:lnTo>
                <a:lnTo>
                  <a:pt x="0" y="8112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66651" y="2193786"/>
            <a:ext cx="4127516" cy="2396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ODS9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pro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o 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uso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i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nov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ação e da tecnolog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para mode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iz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essos, ampliar a eficiência e f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ortalecer a infrae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utura tecnológica das empresas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35065" y="781050"/>
            <a:ext cx="582482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Contribuição </a:t>
            </a:r>
          </a:p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E6C3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 um futuro melhor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75068" y="5420712"/>
            <a:ext cx="323705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Uso da Tecnologia para a gestão de estoque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2547" y="3771126"/>
            <a:ext cx="323705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Maior eficiência nos processos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7768" y="2462176"/>
            <a:ext cx="323705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Modernização pela inovação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47725"/>
            <a:ext cx="168882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51" y="5067300"/>
            <a:ext cx="6213960" cy="1996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projet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o,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digit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alizamos a gestão da auto elét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ric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a, integ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rand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 estoque, vendas e atendi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</a:t>
            </a:r>
            <a:r>
              <a:rPr lang="en-US" sz="210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 em uma única plataforma, reduzindo processos manuais e facilitando o acesso às informações.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1412" y="9047897"/>
            <a:ext cx="39427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2499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Vastiny</a:t>
            </a:r>
          </a:p>
          <a:p>
            <a:pPr algn="l">
              <a:lnSpc>
                <a:spcPts val="2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Conexões para o futuro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3314" y="-79971"/>
            <a:ext cx="5642026" cy="10446942"/>
          </a:xfrm>
          <a:custGeom>
            <a:avLst/>
            <a:gdLst/>
            <a:ahLst/>
            <a:cxnLst/>
            <a:rect r="r" b="b" t="t" l="l"/>
            <a:pathLst>
              <a:path h="10446942" w="5642026">
                <a:moveTo>
                  <a:pt x="0" y="0"/>
                </a:moveTo>
                <a:lnTo>
                  <a:pt x="5642026" y="0"/>
                </a:lnTo>
                <a:lnTo>
                  <a:pt x="5642026" y="10446942"/>
                </a:lnTo>
                <a:lnTo>
                  <a:pt x="0" y="10446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01" t="0" r="-2064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23491" y="0"/>
            <a:ext cx="20491676" cy="10287000"/>
          </a:xfrm>
          <a:custGeom>
            <a:avLst/>
            <a:gdLst/>
            <a:ahLst/>
            <a:cxnLst/>
            <a:rect r="r" b="b" t="t" l="l"/>
            <a:pathLst>
              <a:path h="10287000" w="20491676">
                <a:moveTo>
                  <a:pt x="0" y="0"/>
                </a:moveTo>
                <a:lnTo>
                  <a:pt x="20491677" y="0"/>
                </a:lnTo>
                <a:lnTo>
                  <a:pt x="2049167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11" r="0" b="-62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247" y="984669"/>
            <a:ext cx="606175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Contextualização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68295"/>
            <a:ext cx="4764688" cy="7600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buFont typeface="Arial"/>
              <a:buChar char="•"/>
            </a:pPr>
            <a:r>
              <a:rPr lang="en-US" sz="20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Autoelétrica com 20 anos de mercado em Mauá (ABC paulista), administrada por uma família</a:t>
            </a:r>
          </a:p>
          <a:p>
            <a:pPr algn="l" marL="432890" indent="-216445" lvl="1">
              <a:lnSpc>
                <a:spcPts val="3007"/>
              </a:lnSpc>
              <a:buFont typeface="Arial"/>
              <a:buChar char="•"/>
            </a:pPr>
            <a:r>
              <a:rPr lang="en-US" sz="20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Vende peças elétricas e de injeção e oferece reparo de limpadores e eletroventiladores (feito por oficina terceirizada)</a:t>
            </a:r>
          </a:p>
          <a:p>
            <a:pPr algn="l" marL="432890" indent="-216445" lvl="1">
              <a:lnSpc>
                <a:spcPts val="3007"/>
              </a:lnSpc>
              <a:buFont typeface="Arial"/>
              <a:buChar char="•"/>
            </a:pPr>
            <a:r>
              <a:rPr lang="en-US" sz="20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Atendimento de balcão fechado: o atendente identifica a peça fazendo perguntas ao cliente</a:t>
            </a:r>
          </a:p>
          <a:p>
            <a:pPr algn="l" marL="432890" indent="-216445" lvl="1">
              <a:lnSpc>
                <a:spcPts val="3007"/>
              </a:lnSpc>
              <a:buFont typeface="Arial"/>
              <a:buChar char="•"/>
            </a:pPr>
            <a:r>
              <a:rPr lang="en-US" sz="20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Canais: presencial, WhatsApp (grande parte dos pedidos) e telefone</a:t>
            </a:r>
          </a:p>
          <a:p>
            <a:pPr algn="l" marL="432890" indent="-216445" lvl="1">
              <a:lnSpc>
                <a:spcPts val="3007"/>
              </a:lnSpc>
              <a:buFont typeface="Arial"/>
              <a:buChar char="•"/>
            </a:pPr>
            <a:r>
              <a:rPr lang="en-US" sz="20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Controle 100% manual: baixa de estoque em caderno ou papel avulso, preços em planilha, sem catálogo digital e sem cadastro de clientes</a:t>
            </a:r>
          </a:p>
          <a:p>
            <a:pPr algn="l">
              <a:lnSpc>
                <a:spcPts val="300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398714" y="1708526"/>
            <a:ext cx="5209174" cy="5976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5773" indent="-202886" lvl="1">
              <a:lnSpc>
                <a:spcPts val="2819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Atendimento em balcão fechado: a peça é identificada por perguntas ao cliente.</a:t>
            </a:r>
          </a:p>
          <a:p>
            <a:pPr algn="l" marL="405773" indent="-202886" lvl="1">
              <a:lnSpc>
                <a:spcPts val="2819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WhatsApp é o principal canal remoto, com o telefone como apoio.</a:t>
            </a:r>
          </a:p>
          <a:p>
            <a:pPr algn="l" marL="405773" indent="-202886" lvl="1">
              <a:lnSpc>
                <a:spcPts val="2819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Estoque controlado à mão.</a:t>
            </a:r>
          </a:p>
          <a:p>
            <a:pPr algn="l" marL="405773" indent="-202886" lvl="1">
              <a:lnSpc>
                <a:spcPts val="2819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Consequência: na correria do balcão, anotações se perdem, peças já vendidas continuam "disponíveis" e vendas são perdidas. Sem histórico, a loja não sabe o que mais gira e compra por precaução</a:t>
            </a:r>
          </a:p>
          <a:p>
            <a:pPr algn="l" marL="405773" indent="-202886" lvl="1">
              <a:lnSpc>
                <a:spcPts val="2819"/>
              </a:lnSpc>
              <a:buFont typeface="Arial"/>
              <a:buChar char="•"/>
            </a:pPr>
            <a:r>
              <a:rPr lang="en-US" sz="187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Mercado em transição: grandes redes já usam ERP e catálogo online, enquanto lojas pequenas seguem analógicas</a:t>
            </a:r>
          </a:p>
          <a:p>
            <a:pPr algn="l">
              <a:lnSpc>
                <a:spcPts val="2819"/>
              </a:lnSpc>
            </a:pPr>
          </a:p>
          <a:p>
            <a:pPr algn="l">
              <a:lnSpc>
                <a:spcPts val="28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709007" y="984669"/>
            <a:ext cx="286998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>
                <a:solidFill>
                  <a:srgbClr val="E6C3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Cenário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95574" y="0"/>
            <a:ext cx="32370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Fonte imagem: Freepik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50815" y="1539354"/>
            <a:ext cx="971179" cy="891138"/>
          </a:xfrm>
          <a:custGeom>
            <a:avLst/>
            <a:gdLst/>
            <a:ahLst/>
            <a:cxnLst/>
            <a:rect r="r" b="b" t="t" l="l"/>
            <a:pathLst>
              <a:path h="891138" w="971179">
                <a:moveTo>
                  <a:pt x="0" y="0"/>
                </a:moveTo>
                <a:lnTo>
                  <a:pt x="971180" y="0"/>
                </a:lnTo>
                <a:lnTo>
                  <a:pt x="971180" y="891138"/>
                </a:lnTo>
                <a:lnTo>
                  <a:pt x="0" y="891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2433" t="-210396" r="-573690" b="-4991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4501" y="2672016"/>
            <a:ext cx="422894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>
                <a:solidFill>
                  <a:srgbClr val="E6C3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Justificativa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7616" y="3505169"/>
            <a:ext cx="6381540" cy="527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84"/>
              </a:lnSpc>
            </a:pPr>
            <a:r>
              <a:rPr lang="en-US" sz="18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 entrevista de 27/08/2026, o proprietário apontou o controle manual do estoque como a maior dificuldade do negócio.</a:t>
            </a:r>
          </a:p>
          <a:p>
            <a:pPr algn="just" marL="400738" indent="-200369" lvl="1">
              <a:lnSpc>
                <a:spcPts val="2784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Anotação perdida ou com código errado: a peça já vendida continua aparecendo como disponível, e a venda é perdida</a:t>
            </a:r>
          </a:p>
          <a:p>
            <a:pPr algn="just" marL="400738" indent="-200369" lvl="1">
              <a:lnSpc>
                <a:spcPts val="2784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Sem catálogo em tela: cada atendimento no WhatsApp vira uma sequência de perguntas. </a:t>
            </a:r>
          </a:p>
          <a:p>
            <a:pPr algn="just" marL="400738" indent="-200369" lvl="1">
              <a:lnSpc>
                <a:spcPts val="2784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Sem histórico de vendas: a reposição é decidida por percepção, há capital parado em excesso e, mesmo assim, faltam itens de alto giro</a:t>
            </a:r>
          </a:p>
          <a:p>
            <a:pPr algn="just" marL="400738" indent="-200369" lvl="1">
              <a:lnSpc>
                <a:spcPts val="2784"/>
              </a:lnSpc>
              <a:buFont typeface="Arial"/>
              <a:buChar char="•"/>
            </a:pPr>
            <a:r>
              <a:rPr lang="en-US" sz="18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Fechamento mensal manual: trabalhoso e sujeito a escapes, principalmente em peças de menor valor</a:t>
            </a:r>
          </a:p>
          <a:p>
            <a:pPr algn="just">
              <a:lnSpc>
                <a:spcPts val="278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50815" y="2672016"/>
            <a:ext cx="422894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Benefícios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44079" y="3505169"/>
            <a:ext cx="5845975" cy="661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3917" indent="-221959" lvl="1">
              <a:lnSpc>
                <a:spcPts val="3084"/>
              </a:lnSpc>
              <a:buFont typeface="Arial"/>
              <a:buChar char="•"/>
            </a:pPr>
            <a:r>
              <a:rPr lang="en-US" sz="20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Proprietário: estoque confiável com baixa automática, lista diária de itens abaixo do mínimo e painel de faturamento e giro para decidir compras com base em dados</a:t>
            </a:r>
          </a:p>
          <a:p>
            <a:pPr algn="just" marL="443917" indent="-221959" lvl="1">
              <a:lnSpc>
                <a:spcPts val="3084"/>
              </a:lnSpc>
              <a:buFont typeface="Arial"/>
              <a:buChar char="•"/>
            </a:pPr>
            <a:r>
              <a:rPr lang="en-US" sz="20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Atendentes: consulta imediata sem checagem física, com busca por nome, código de fabricante ou veículo, e menos erros de baixa</a:t>
            </a:r>
          </a:p>
          <a:p>
            <a:pPr algn="just" marL="443917" indent="-221959" lvl="1">
              <a:lnSpc>
                <a:spcPts val="3084"/>
              </a:lnSpc>
              <a:buFont typeface="Arial"/>
              <a:buChar char="•"/>
            </a:pPr>
            <a:r>
              <a:rPr lang="en-US" sz="20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Clientes e oficinas: resposta mais rápida no balcão e no WhatsApp, menos "não tem" para peça que acabou, e consulta de pedido pelo site a qualquer hora</a:t>
            </a:r>
          </a:p>
          <a:p>
            <a:pPr algn="just" marL="443917" indent="-221959" lvl="1">
              <a:lnSpc>
                <a:spcPts val="3084"/>
              </a:lnSpc>
              <a:buFont typeface="Arial"/>
              <a:buChar char="•"/>
            </a:pPr>
            <a:r>
              <a:rPr lang="en-US" sz="205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Loja: o site funciona como vitrine digital, reforça a credibilidade dos 20 anos e facilita ser encontrada no Google</a:t>
            </a:r>
          </a:p>
          <a:p>
            <a:pPr algn="just">
              <a:lnSpc>
                <a:spcPts val="3084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14501" y="1539354"/>
            <a:ext cx="971179" cy="891138"/>
          </a:xfrm>
          <a:custGeom>
            <a:avLst/>
            <a:gdLst/>
            <a:ahLst/>
            <a:cxnLst/>
            <a:rect r="r" b="b" t="t" l="l"/>
            <a:pathLst>
              <a:path h="891138" w="971179">
                <a:moveTo>
                  <a:pt x="0" y="0"/>
                </a:moveTo>
                <a:lnTo>
                  <a:pt x="971179" y="0"/>
                </a:lnTo>
                <a:lnTo>
                  <a:pt x="971179" y="891138"/>
                </a:lnTo>
                <a:lnTo>
                  <a:pt x="0" y="891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4440" t="-211519" r="-841683" b="-49798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086" y="2048528"/>
            <a:ext cx="11306314" cy="5405831"/>
          </a:xfrm>
          <a:custGeom>
            <a:avLst/>
            <a:gdLst/>
            <a:ahLst/>
            <a:cxnLst/>
            <a:rect r="r" b="b" t="t" l="l"/>
            <a:pathLst>
              <a:path h="5405831" w="11306314">
                <a:moveTo>
                  <a:pt x="0" y="0"/>
                </a:moveTo>
                <a:lnTo>
                  <a:pt x="11306314" y="0"/>
                </a:lnTo>
                <a:lnTo>
                  <a:pt x="11306314" y="5405831"/>
                </a:lnTo>
                <a:lnTo>
                  <a:pt x="0" y="5405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8929" y="4751444"/>
            <a:ext cx="10700505" cy="5042613"/>
          </a:xfrm>
          <a:custGeom>
            <a:avLst/>
            <a:gdLst/>
            <a:ahLst/>
            <a:cxnLst/>
            <a:rect r="r" b="b" t="t" l="l"/>
            <a:pathLst>
              <a:path h="5042613" w="10700505">
                <a:moveTo>
                  <a:pt x="0" y="0"/>
                </a:moveTo>
                <a:lnTo>
                  <a:pt x="10700505" y="0"/>
                </a:lnTo>
                <a:lnTo>
                  <a:pt x="10700505" y="5042613"/>
                </a:lnTo>
                <a:lnTo>
                  <a:pt x="0" y="5042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176" t="0" r="-22198" b="-50641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023354" y="361950"/>
            <a:ext cx="1915118" cy="1850666"/>
            <a:chOff x="0" y="0"/>
            <a:chExt cx="2553491" cy="2467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00018" y="384381"/>
              <a:ext cx="1153473" cy="1126799"/>
            </a:xfrm>
            <a:custGeom>
              <a:avLst/>
              <a:gdLst/>
              <a:ahLst/>
              <a:cxnLst/>
              <a:rect r="r" b="b" t="t" l="l"/>
              <a:pathLst>
                <a:path h="1126799" w="1153473">
                  <a:moveTo>
                    <a:pt x="0" y="0"/>
                  </a:moveTo>
                  <a:lnTo>
                    <a:pt x="1153473" y="0"/>
                  </a:lnTo>
                  <a:lnTo>
                    <a:pt x="1153473" y="1126799"/>
                  </a:lnTo>
                  <a:lnTo>
                    <a:pt x="0" y="1126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2486" cy="1312486"/>
            </a:xfrm>
            <a:custGeom>
              <a:avLst/>
              <a:gdLst/>
              <a:ahLst/>
              <a:cxnLst/>
              <a:rect r="r" b="b" t="t" l="l"/>
              <a:pathLst>
                <a:path h="1312486" w="1312486">
                  <a:moveTo>
                    <a:pt x="0" y="0"/>
                  </a:moveTo>
                  <a:lnTo>
                    <a:pt x="1312486" y="0"/>
                  </a:lnTo>
                  <a:lnTo>
                    <a:pt x="1312486" y="1312486"/>
                  </a:lnTo>
                  <a:lnTo>
                    <a:pt x="0" y="1312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27478" y="1118278"/>
              <a:ext cx="1349276" cy="1349276"/>
            </a:xfrm>
            <a:custGeom>
              <a:avLst/>
              <a:gdLst/>
              <a:ahLst/>
              <a:cxnLst/>
              <a:rect r="r" b="b" t="t" l="l"/>
              <a:pathLst>
                <a:path h="1349276" w="1349276">
                  <a:moveTo>
                    <a:pt x="0" y="0"/>
                  </a:moveTo>
                  <a:lnTo>
                    <a:pt x="1349276" y="0"/>
                  </a:lnTo>
                  <a:lnTo>
                    <a:pt x="1349276" y="1349276"/>
                  </a:lnTo>
                  <a:lnTo>
                    <a:pt x="0" y="1349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37628" y="504825"/>
            <a:ext cx="11302602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E6C3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Ferramentas </a:t>
            </a:r>
          </a:p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Versionamento e Planejamento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6211" y="1376413"/>
            <a:ext cx="17775578" cy="8417259"/>
          </a:xfrm>
          <a:custGeom>
            <a:avLst/>
            <a:gdLst/>
            <a:ahLst/>
            <a:cxnLst/>
            <a:rect r="r" b="b" t="t" l="l"/>
            <a:pathLst>
              <a:path h="8417259" w="17775578">
                <a:moveTo>
                  <a:pt x="0" y="0"/>
                </a:moveTo>
                <a:lnTo>
                  <a:pt x="17775578" y="0"/>
                </a:lnTo>
                <a:lnTo>
                  <a:pt x="17775578" y="8417259"/>
                </a:lnTo>
                <a:lnTo>
                  <a:pt x="0" y="8417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0" t="0" r="-78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43583" y="561217"/>
            <a:ext cx="168882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Backlog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9120" y="1180342"/>
            <a:ext cx="15789759" cy="8944329"/>
          </a:xfrm>
          <a:custGeom>
            <a:avLst/>
            <a:gdLst/>
            <a:ahLst/>
            <a:cxnLst/>
            <a:rect r="r" b="b" t="t" l="l"/>
            <a:pathLst>
              <a:path h="8944329" w="15789759">
                <a:moveTo>
                  <a:pt x="0" y="0"/>
                </a:moveTo>
                <a:lnTo>
                  <a:pt x="15789760" y="0"/>
                </a:lnTo>
                <a:lnTo>
                  <a:pt x="15789760" y="8944329"/>
                </a:lnTo>
                <a:lnTo>
                  <a:pt x="0" y="8944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43583" y="561217"/>
            <a:ext cx="168882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b="true" sz="5000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Status Report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0619" y="1374765"/>
            <a:ext cx="1700950" cy="1178233"/>
            <a:chOff x="0" y="0"/>
            <a:chExt cx="2315718" cy="16040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15718" cy="1604048"/>
            </a:xfrm>
            <a:custGeom>
              <a:avLst/>
              <a:gdLst/>
              <a:ahLst/>
              <a:cxnLst/>
              <a:rect r="r" b="b" t="t" l="l"/>
              <a:pathLst>
                <a:path h="1604048" w="2315718">
                  <a:moveTo>
                    <a:pt x="2315718" y="0"/>
                  </a:moveTo>
                  <a:lnTo>
                    <a:pt x="2315718" y="1604048"/>
                  </a:lnTo>
                  <a:lnTo>
                    <a:pt x="0" y="1604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B31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15718" cy="1642148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>
                <a:lnSpc>
                  <a:spcPts val="3079"/>
                </a:lnSpc>
              </a:pPr>
              <a:r>
                <a:rPr lang="en-US" b="true" sz="2199" spc="-65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Fases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81987" y="1278151"/>
            <a:ext cx="3579580" cy="8914928"/>
            <a:chOff x="0" y="0"/>
            <a:chExt cx="132140" cy="3290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140" cy="329093"/>
            </a:xfrm>
            <a:custGeom>
              <a:avLst/>
              <a:gdLst/>
              <a:ahLst/>
              <a:cxnLst/>
              <a:rect r="r" b="b" t="t" l="l"/>
              <a:pathLst>
                <a:path h="329093" w="132140">
                  <a:moveTo>
                    <a:pt x="0" y="0"/>
                  </a:moveTo>
                  <a:lnTo>
                    <a:pt x="132140" y="0"/>
                  </a:lnTo>
                  <a:lnTo>
                    <a:pt x="132140" y="329093"/>
                  </a:lnTo>
                  <a:lnTo>
                    <a:pt x="0" y="329093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140" cy="367193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52931" y="1278151"/>
            <a:ext cx="3579580" cy="8914928"/>
            <a:chOff x="0" y="0"/>
            <a:chExt cx="132140" cy="329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140" cy="329093"/>
            </a:xfrm>
            <a:custGeom>
              <a:avLst/>
              <a:gdLst/>
              <a:ahLst/>
              <a:cxnLst/>
              <a:rect r="r" b="b" t="t" l="l"/>
              <a:pathLst>
                <a:path h="329093" w="132140">
                  <a:moveTo>
                    <a:pt x="0" y="0"/>
                  </a:moveTo>
                  <a:lnTo>
                    <a:pt x="132140" y="0"/>
                  </a:lnTo>
                  <a:lnTo>
                    <a:pt x="132140" y="329093"/>
                  </a:lnTo>
                  <a:lnTo>
                    <a:pt x="0" y="329093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2140" cy="367193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23875" y="1278151"/>
            <a:ext cx="3579580" cy="8914928"/>
            <a:chOff x="0" y="0"/>
            <a:chExt cx="132140" cy="3290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2140" cy="329093"/>
            </a:xfrm>
            <a:custGeom>
              <a:avLst/>
              <a:gdLst/>
              <a:ahLst/>
              <a:cxnLst/>
              <a:rect r="r" b="b" t="t" l="l"/>
              <a:pathLst>
                <a:path h="329093" w="132140">
                  <a:moveTo>
                    <a:pt x="0" y="0"/>
                  </a:moveTo>
                  <a:lnTo>
                    <a:pt x="132140" y="0"/>
                  </a:lnTo>
                  <a:lnTo>
                    <a:pt x="132140" y="329093"/>
                  </a:lnTo>
                  <a:lnTo>
                    <a:pt x="0" y="329093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2140" cy="367193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94819" y="1278151"/>
            <a:ext cx="3579580" cy="8914928"/>
            <a:chOff x="0" y="0"/>
            <a:chExt cx="132140" cy="3290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140" cy="329093"/>
            </a:xfrm>
            <a:custGeom>
              <a:avLst/>
              <a:gdLst/>
              <a:ahLst/>
              <a:cxnLst/>
              <a:rect r="r" b="b" t="t" l="l"/>
              <a:pathLst>
                <a:path h="329093" w="132140">
                  <a:moveTo>
                    <a:pt x="0" y="0"/>
                  </a:moveTo>
                  <a:lnTo>
                    <a:pt x="132140" y="0"/>
                  </a:lnTo>
                  <a:lnTo>
                    <a:pt x="132140" y="329093"/>
                  </a:lnTo>
                  <a:lnTo>
                    <a:pt x="0" y="329093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2140" cy="367193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3492" y="2828884"/>
            <a:ext cx="18121016" cy="7329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3492" y="6615563"/>
            <a:ext cx="18121016" cy="7329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3492" y="4722223"/>
            <a:ext cx="18121016" cy="7329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3492" y="8508902"/>
            <a:ext cx="18121016" cy="7329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380619" y="3212604"/>
            <a:ext cx="1700950" cy="1178233"/>
            <a:chOff x="0" y="0"/>
            <a:chExt cx="2315718" cy="16040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15718" cy="1604048"/>
            </a:xfrm>
            <a:custGeom>
              <a:avLst/>
              <a:gdLst/>
              <a:ahLst/>
              <a:cxnLst/>
              <a:rect r="r" b="b" t="t" l="l"/>
              <a:pathLst>
                <a:path h="1604048" w="2315718">
                  <a:moveTo>
                    <a:pt x="2315718" y="0"/>
                  </a:moveTo>
                  <a:lnTo>
                    <a:pt x="2315718" y="1604048"/>
                  </a:lnTo>
                  <a:lnTo>
                    <a:pt x="0" y="1604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B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15718" cy="1642148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65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Faz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0619" y="5050443"/>
            <a:ext cx="1700950" cy="1178233"/>
            <a:chOff x="0" y="0"/>
            <a:chExt cx="2315718" cy="1604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5718" cy="1604048"/>
            </a:xfrm>
            <a:custGeom>
              <a:avLst/>
              <a:gdLst/>
              <a:ahLst/>
              <a:cxnLst/>
              <a:rect r="r" b="b" t="t" l="l"/>
              <a:pathLst>
                <a:path h="1604048" w="2315718">
                  <a:moveTo>
                    <a:pt x="2315718" y="0"/>
                  </a:moveTo>
                  <a:lnTo>
                    <a:pt x="2315718" y="1604048"/>
                  </a:lnTo>
                  <a:lnTo>
                    <a:pt x="0" y="1604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B31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15718" cy="1642148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65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0619" y="6888281"/>
            <a:ext cx="1700950" cy="1178233"/>
            <a:chOff x="0" y="0"/>
            <a:chExt cx="2315718" cy="16040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15718" cy="1604048"/>
            </a:xfrm>
            <a:custGeom>
              <a:avLst/>
              <a:gdLst/>
              <a:ahLst/>
              <a:cxnLst/>
              <a:rect r="r" b="b" t="t" l="l"/>
              <a:pathLst>
                <a:path h="1604048" w="2315718">
                  <a:moveTo>
                    <a:pt x="2315718" y="0"/>
                  </a:moveTo>
                  <a:lnTo>
                    <a:pt x="2315718" y="1604048"/>
                  </a:lnTo>
                  <a:lnTo>
                    <a:pt x="0" y="1604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B31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315718" cy="1642148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65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Pensa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0619" y="8726120"/>
            <a:ext cx="1700950" cy="1178233"/>
            <a:chOff x="0" y="0"/>
            <a:chExt cx="2315718" cy="16040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15718" cy="1604048"/>
            </a:xfrm>
            <a:custGeom>
              <a:avLst/>
              <a:gdLst/>
              <a:ahLst/>
              <a:cxnLst/>
              <a:rect r="r" b="b" t="t" l="l"/>
              <a:pathLst>
                <a:path h="1604048" w="2315718">
                  <a:moveTo>
                    <a:pt x="2315718" y="0"/>
                  </a:moveTo>
                  <a:lnTo>
                    <a:pt x="2315718" y="1604048"/>
                  </a:lnTo>
                  <a:lnTo>
                    <a:pt x="0" y="1604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B31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315718" cy="1642148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 spc="-65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Proposta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136516" y="1540480"/>
            <a:ext cx="2470523" cy="1078515"/>
            <a:chOff x="0" y="0"/>
            <a:chExt cx="3363435" cy="14682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63435" cy="1468291"/>
            </a:xfrm>
            <a:custGeom>
              <a:avLst/>
              <a:gdLst/>
              <a:ahLst/>
              <a:cxnLst/>
              <a:rect r="r" b="b" t="t" l="l"/>
              <a:pathLst>
                <a:path h="1468291" w="3363435">
                  <a:moveTo>
                    <a:pt x="3363435" y="0"/>
                  </a:moveTo>
                  <a:lnTo>
                    <a:pt x="3363435" y="1468291"/>
                  </a:lnTo>
                  <a:lnTo>
                    <a:pt x="0" y="1468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363435" cy="1506391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>
                <a:lnSpc>
                  <a:spcPts val="2787"/>
                </a:lnSpc>
              </a:pPr>
              <a:r>
                <a:rPr lang="en-US" b="true" sz="1991" spc="-59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Login no Sistema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33628" y="1540480"/>
            <a:ext cx="2221544" cy="1078515"/>
            <a:chOff x="0" y="0"/>
            <a:chExt cx="3024468" cy="14682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24468" cy="1468291"/>
            </a:xfrm>
            <a:custGeom>
              <a:avLst/>
              <a:gdLst/>
              <a:ahLst/>
              <a:cxnLst/>
              <a:rect r="r" b="b" t="t" l="l"/>
              <a:pathLst>
                <a:path h="1468291" w="3024468">
                  <a:moveTo>
                    <a:pt x="3024468" y="0"/>
                  </a:moveTo>
                  <a:lnTo>
                    <a:pt x="3024468" y="1468291"/>
                  </a:lnTo>
                  <a:lnTo>
                    <a:pt x="0" y="1468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024468" cy="1506391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1991" spc="-5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Cadastro de Peças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03733" y="1540480"/>
            <a:ext cx="2221544" cy="1078515"/>
            <a:chOff x="0" y="0"/>
            <a:chExt cx="3024468" cy="14682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24468" cy="1468291"/>
            </a:xfrm>
            <a:custGeom>
              <a:avLst/>
              <a:gdLst/>
              <a:ahLst/>
              <a:cxnLst/>
              <a:rect r="r" b="b" t="t" l="l"/>
              <a:pathLst>
                <a:path h="1468291" w="3024468">
                  <a:moveTo>
                    <a:pt x="3024468" y="0"/>
                  </a:moveTo>
                  <a:lnTo>
                    <a:pt x="3024468" y="1468291"/>
                  </a:lnTo>
                  <a:lnTo>
                    <a:pt x="0" y="1468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024468" cy="1506391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1991" spc="-5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Consulta e  Busca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173838" y="1540480"/>
            <a:ext cx="2221544" cy="1078515"/>
            <a:chOff x="0" y="0"/>
            <a:chExt cx="3024468" cy="14682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24468" cy="1468291"/>
            </a:xfrm>
            <a:custGeom>
              <a:avLst/>
              <a:gdLst/>
              <a:ahLst/>
              <a:cxnLst/>
              <a:rect r="r" b="b" t="t" l="l"/>
              <a:pathLst>
                <a:path h="1468291" w="3024468">
                  <a:moveTo>
                    <a:pt x="3024468" y="0"/>
                  </a:moveTo>
                  <a:lnTo>
                    <a:pt x="3024468" y="1468291"/>
                  </a:lnTo>
                  <a:lnTo>
                    <a:pt x="0" y="1468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2C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24468" cy="1506391"/>
            </a:xfrm>
            <a:prstGeom prst="rect">
              <a:avLst/>
            </a:prstGeom>
          </p:spPr>
          <p:txBody>
            <a:bodyPr anchor="ctr" rtlCol="false" tIns="16584" lIns="16584" bIns="16584" rIns="16584"/>
            <a:lstStyle/>
            <a:p>
              <a:pPr algn="ctr" marL="0" indent="0" lvl="0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1991" spc="-59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Saída de  Estoque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31094" y="449476"/>
            <a:ext cx="1688820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3999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JORNADA DO CONCORRENTE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582826" y="3001536"/>
            <a:ext cx="3579580" cy="14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Acessar sistema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Digitar CPF/E-mail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Inserir senha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Clicar em ‘Entrar’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581987" y="6734450"/>
            <a:ext cx="3579580" cy="14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“Espero que seja rápido, estou com pressa”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“A fonte esta muito pequena”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599833" y="8741735"/>
            <a:ext cx="3447468" cy="112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Aplicar hierarquia nas fontes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Utilizar alta pregnância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84703" y="6031062"/>
            <a:ext cx="2722336" cy="36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7"/>
              </a:lnSpc>
              <a:spcBef>
                <a:spcPct val="0"/>
              </a:spcBef>
            </a:pPr>
            <a:r>
              <a:rPr lang="en-US" b="true" sz="2005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Neutro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540068" y="2811854"/>
            <a:ext cx="3580419" cy="187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Clicar em ‘Novo’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Preencher Nome, Códigos, Marca, Preço, Categoria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Clicar em ‘Cadastrar’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540068" y="8452175"/>
            <a:ext cx="3535713" cy="170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711" indent="-194856" lvl="1">
              <a:lnSpc>
                <a:spcPts val="2707"/>
              </a:lnSpc>
              <a:spcBef>
                <a:spcPct val="0"/>
              </a:spcBef>
              <a:buFont typeface="Arial"/>
              <a:buChar char="•"/>
            </a:pPr>
            <a:r>
              <a:rPr lang="en-US" sz="18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Preenchimento automático</a:t>
            </a:r>
          </a:p>
          <a:p>
            <a:pPr algn="l" marL="389711" indent="-194856" lvl="1">
              <a:lnSpc>
                <a:spcPts val="2707"/>
              </a:lnSpc>
              <a:spcBef>
                <a:spcPct val="0"/>
              </a:spcBef>
              <a:buFont typeface="Arial"/>
              <a:buChar char="•"/>
            </a:pPr>
            <a:r>
              <a:rPr lang="en-US" sz="18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Campos dinâmicos</a:t>
            </a:r>
          </a:p>
          <a:p>
            <a:pPr algn="l" marL="389711" indent="-194856" lvl="1">
              <a:lnSpc>
                <a:spcPts val="2707"/>
              </a:lnSpc>
              <a:spcBef>
                <a:spcPct val="0"/>
              </a:spcBef>
              <a:buFont typeface="Arial"/>
              <a:buChar char="•"/>
            </a:pPr>
            <a:r>
              <a:rPr lang="en-US" sz="18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Foto das peças para facilitar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37731" y="8498751"/>
            <a:ext cx="3694719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4" indent="-188912" lvl="1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174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Catálogo separado contendo carrinho</a:t>
            </a:r>
          </a:p>
          <a:p>
            <a:pPr algn="l" marL="377824" indent="-188912" lvl="1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174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Visualizar todas as informações do produto</a:t>
            </a:r>
          </a:p>
          <a:p>
            <a:pPr algn="l" marL="377824" indent="-188912" lvl="1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174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do estoque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389206" y="8476574"/>
            <a:ext cx="3614134" cy="165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825" indent="-188912" lvl="1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174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Carrinho separado por clientes</a:t>
            </a:r>
          </a:p>
          <a:p>
            <a:pPr algn="l" marL="377825" indent="-188912" lvl="1">
              <a:lnSpc>
                <a:spcPts val="2624"/>
              </a:lnSpc>
              <a:spcBef>
                <a:spcPct val="0"/>
              </a:spcBef>
              <a:buFont typeface="Arial"/>
              <a:buChar char="•"/>
            </a:pPr>
            <a:r>
              <a:rPr lang="en-US" sz="174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Fluxo de uso contínuo que segue de busca, carrinho até baixa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700640" y="6734450"/>
            <a:ext cx="2903412" cy="14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“Muitos campos para preencher”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“Não tem foto das peças”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622158" y="6734450"/>
            <a:ext cx="3383016" cy="14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“Não tem uma aba só para pesquisa”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“A quantidade em estoque esta certa?”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504765" y="6734450"/>
            <a:ext cx="3383016" cy="149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“Isso esta demorando”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“Preciso atualizar o estoque para atender outro cliente”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429026" y="2807764"/>
            <a:ext cx="3574313" cy="188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Seleciona a peça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Clica em ‘Registrar saída’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Preencher quantidade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Informar motivo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523875" y="2807764"/>
            <a:ext cx="3481298" cy="188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Digitar na Barra de Pesquisa 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Utilizar filtros</a:t>
            </a:r>
          </a:p>
          <a:p>
            <a:pPr algn="l" marL="432890" indent="-216445" lvl="1">
              <a:lnSpc>
                <a:spcPts val="3007"/>
              </a:lnSpc>
              <a:spcBef>
                <a:spcPct val="0"/>
              </a:spcBef>
              <a:buFont typeface="Arial"/>
              <a:buChar char="•"/>
            </a:pPr>
            <a:r>
              <a:rPr lang="en-US" sz="2005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Visualizar lista de produtos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001439" y="6031880"/>
            <a:ext cx="2722336" cy="36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7"/>
              </a:lnSpc>
              <a:spcBef>
                <a:spcPct val="0"/>
              </a:spcBef>
            </a:pPr>
            <a:r>
              <a:rPr lang="en-US" b="true" sz="2005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Frustrado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932612" y="6031880"/>
            <a:ext cx="2722336" cy="36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7"/>
              </a:lnSpc>
              <a:spcBef>
                <a:spcPct val="0"/>
              </a:spcBef>
            </a:pPr>
            <a:r>
              <a:rPr lang="en-US" b="true" sz="2005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903556" y="6031880"/>
            <a:ext cx="2722336" cy="36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7"/>
              </a:lnSpc>
              <a:spcBef>
                <a:spcPct val="0"/>
              </a:spcBef>
            </a:pPr>
            <a:r>
              <a:rPr lang="en-US" b="true" sz="2005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Cansado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671932" y="4711232"/>
            <a:ext cx="1185584" cy="131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49"/>
              </a:lnSpc>
              <a:spcBef>
                <a:spcPct val="0"/>
              </a:spcBef>
            </a:pPr>
            <a:r>
              <a:rPr lang="en-US" sz="74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😩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652880" y="4686150"/>
            <a:ext cx="1185982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  <a:spcBef>
                <a:spcPct val="0"/>
              </a:spcBef>
            </a:pPr>
            <a:r>
              <a:rPr lang="en-US" sz="7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😐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00789" y="4686150"/>
            <a:ext cx="1185982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50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🤨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69617" y="4686150"/>
            <a:ext cx="1185982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50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😣</a:t>
            </a:r>
          </a:p>
        </p:txBody>
      </p:sp>
      <p:sp>
        <p:nvSpPr>
          <p:cNvPr name="Freeform 67" id="67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Gabriel da Silva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Proprietário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"Sou proprietário de uma auto elétrica e preciso modernizar o gerenciamento de estoque e vendas 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6778" y="597564"/>
            <a:ext cx="933928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10875" y="2571750"/>
            <a:ext cx="674786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Sobrecarregado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Preocupado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Organizado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Aberto a novas possibilidades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Expansionista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Não possui conhecimento tecnológico avançado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É impaciente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Ausência de controle de estoque digital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Sobrecarga de processos manuais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Ausência de monitoramento estatístico de vendas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Dificuldade de expansão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Atraso no atendimento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Falta de presença online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371094" y="2111256"/>
            <a:ext cx="2935257" cy="3417093"/>
          </a:xfrm>
          <a:custGeom>
            <a:avLst/>
            <a:gdLst/>
            <a:ahLst/>
            <a:cxnLst/>
            <a:rect r="r" b="b" t="t" l="l"/>
            <a:pathLst>
              <a:path h="3417093" w="2935257">
                <a:moveTo>
                  <a:pt x="0" y="0"/>
                </a:moveTo>
                <a:lnTo>
                  <a:pt x="2935257" y="0"/>
                </a:lnTo>
                <a:lnTo>
                  <a:pt x="2935257" y="3417093"/>
                </a:lnTo>
                <a:lnTo>
                  <a:pt x="0" y="3417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322" t="0" r="-19722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6778" y="6366843"/>
            <a:ext cx="16313883" cy="3602556"/>
            <a:chOff x="0" y="0"/>
            <a:chExt cx="609844" cy="1346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9844" cy="134670"/>
            </a:xfrm>
            <a:custGeom>
              <a:avLst/>
              <a:gdLst/>
              <a:ahLst/>
              <a:cxnLst/>
              <a:rect r="r" b="b" t="t" l="l"/>
              <a:pathLst>
                <a:path h="134670" w="609844">
                  <a:moveTo>
                    <a:pt x="0" y="0"/>
                  </a:moveTo>
                  <a:lnTo>
                    <a:pt x="609844" y="0"/>
                  </a:lnTo>
                  <a:lnTo>
                    <a:pt x="609844" y="134670"/>
                  </a:lnTo>
                  <a:lnTo>
                    <a:pt x="0" y="134670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9844" cy="172770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65303" y="6042699"/>
            <a:ext cx="4407147" cy="648287"/>
            <a:chOff x="0" y="0"/>
            <a:chExt cx="164748" cy="24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748" cy="24234"/>
            </a:xfrm>
            <a:custGeom>
              <a:avLst/>
              <a:gdLst/>
              <a:ahLst/>
              <a:cxnLst/>
              <a:rect r="r" b="b" t="t" l="l"/>
              <a:pathLst>
                <a:path h="24234" w="164748">
                  <a:moveTo>
                    <a:pt x="0" y="0"/>
                  </a:moveTo>
                  <a:lnTo>
                    <a:pt x="164748" y="0"/>
                  </a:lnTo>
                  <a:lnTo>
                    <a:pt x="164748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474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05196" y="2017082"/>
            <a:ext cx="6717084" cy="3793067"/>
            <a:chOff x="0" y="0"/>
            <a:chExt cx="251097" cy="141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1097" cy="141792"/>
            </a:xfrm>
            <a:custGeom>
              <a:avLst/>
              <a:gdLst/>
              <a:ahLst/>
              <a:cxnLst/>
              <a:rect r="r" b="b" t="t" l="l"/>
              <a:pathLst>
                <a:path h="141792" w="251097">
                  <a:moveTo>
                    <a:pt x="0" y="0"/>
                  </a:moveTo>
                  <a:lnTo>
                    <a:pt x="251097" y="0"/>
                  </a:lnTo>
                  <a:lnTo>
                    <a:pt x="251097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51097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68757" y="1692939"/>
            <a:ext cx="1982210" cy="648287"/>
            <a:chOff x="0" y="0"/>
            <a:chExt cx="74099" cy="242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42216" y="2017082"/>
            <a:ext cx="7138445" cy="3793067"/>
            <a:chOff x="0" y="0"/>
            <a:chExt cx="266849" cy="14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6849" cy="141792"/>
            </a:xfrm>
            <a:custGeom>
              <a:avLst/>
              <a:gdLst/>
              <a:ahLst/>
              <a:cxnLst/>
              <a:rect r="r" b="b" t="t" l="l"/>
              <a:pathLst>
                <a:path h="141792" w="266849">
                  <a:moveTo>
                    <a:pt x="0" y="0"/>
                  </a:moveTo>
                  <a:lnTo>
                    <a:pt x="266849" y="0"/>
                  </a:lnTo>
                  <a:lnTo>
                    <a:pt x="266849" y="141792"/>
                  </a:lnTo>
                  <a:lnTo>
                    <a:pt x="0" y="141792"/>
                  </a:lnTo>
                  <a:close/>
                </a:path>
              </a:pathLst>
            </a:custGeom>
            <a:solidFill>
              <a:srgbClr val="F8F6F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6849" cy="179892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05776" y="1692939"/>
            <a:ext cx="1982210" cy="648287"/>
            <a:chOff x="0" y="0"/>
            <a:chExt cx="74099" cy="242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72659" y="6226819"/>
            <a:ext cx="4399791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Dores / Necessidades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0553" y="2547109"/>
            <a:ext cx="6166372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Nome: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Hernesto Santos</a:t>
            </a: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Cargo: </a:t>
            </a: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 </a:t>
            </a:r>
          </a:p>
          <a:p>
            <a:pPr algn="l">
              <a:lnSpc>
                <a:spcPts val="3000"/>
              </a:lnSpc>
            </a:pPr>
          </a:p>
          <a:p>
            <a:pPr algn="l">
              <a:lnSpc>
                <a:spcPts val="3000"/>
              </a:lnSpc>
            </a:pPr>
            <a:r>
              <a:rPr lang="en-US" sz="20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Frase:</a:t>
            </a:r>
          </a:p>
          <a:p>
            <a:pPr algn="l">
              <a:lnSpc>
                <a:spcPts val="3000"/>
              </a:lnSpc>
            </a:pPr>
            <a:r>
              <a:rPr lang="en-US" sz="20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"Sou cliente de uma auto elétrica e preciso de um site que eu possa conhecer a empresa e solicitar um orçamento."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6113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Quem?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3132" y="1877059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10875" y="2571750"/>
            <a:ext cx="6477812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Curioso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Gosta de agilidade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Inexperiente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Preocupado</a:t>
            </a:r>
          </a:p>
          <a:p>
            <a:pPr algn="l" marL="431799" indent="-215899" lvl="1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Vaidoso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65303" y="7052936"/>
            <a:ext cx="15795697" cy="2401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Dificuldade de contato digital com auto elétricas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Necessidade em encontrar uma auto elétrica confiável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Dificuldade em solicitar orçamentos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Necessidade de uma fácil visualização do catalogo de produtos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Site que trasmita confiança e profissionalismo</a:t>
            </a:r>
          </a:p>
          <a:p>
            <a:pPr algn="l" marL="469045" indent="-234522" lvl="1">
              <a:lnSpc>
                <a:spcPts val="3258"/>
              </a:lnSpc>
              <a:buFont typeface="Arial"/>
              <a:buChar char="•"/>
            </a:pPr>
            <a:r>
              <a:rPr lang="en-US" sz="2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Tem problemas recorrentes com seu automóvel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71475" y="2111256"/>
            <a:ext cx="2935257" cy="3512343"/>
          </a:xfrm>
          <a:custGeom>
            <a:avLst/>
            <a:gdLst/>
            <a:ahLst/>
            <a:cxnLst/>
            <a:rect r="r" b="b" t="t" l="l"/>
            <a:pathLst>
              <a:path h="3512343" w="2935257">
                <a:moveTo>
                  <a:pt x="0" y="0"/>
                </a:moveTo>
                <a:lnTo>
                  <a:pt x="2935257" y="0"/>
                </a:lnTo>
                <a:lnTo>
                  <a:pt x="2935257" y="3512343"/>
                </a:lnTo>
                <a:lnTo>
                  <a:pt x="0" y="351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353" t="0" r="-53358" b="-25436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66778" y="597564"/>
            <a:ext cx="933928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1321" y="1292075"/>
            <a:ext cx="13642281" cy="8847791"/>
          </a:xfrm>
          <a:custGeom>
            <a:avLst/>
            <a:gdLst/>
            <a:ahLst/>
            <a:cxnLst/>
            <a:rect r="r" b="b" t="t" l="l"/>
            <a:pathLst>
              <a:path h="8847791" w="13642281">
                <a:moveTo>
                  <a:pt x="0" y="0"/>
                </a:moveTo>
                <a:lnTo>
                  <a:pt x="13642281" y="0"/>
                </a:lnTo>
                <a:lnTo>
                  <a:pt x="13642281" y="8847791"/>
                </a:lnTo>
                <a:lnTo>
                  <a:pt x="0" y="8847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84" t="-18515" r="-6366" b="-12048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191343" y="615800"/>
            <a:ext cx="168882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</a:t>
            </a: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ireframe V1 - </a:t>
            </a:r>
            <a:r>
              <a:rPr lang="en-US" sz="5499" b="true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Catalogo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0170"/>
            <a:ext cx="168882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499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</a:t>
            </a: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ireframe V1 - </a:t>
            </a:r>
            <a:r>
              <a:rPr lang="en-US" sz="5499" b="true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976990" y="1256445"/>
            <a:ext cx="14036273" cy="8917961"/>
          </a:xfrm>
          <a:custGeom>
            <a:avLst/>
            <a:gdLst/>
            <a:ahLst/>
            <a:cxnLst/>
            <a:rect r="r" b="b" t="t" l="l"/>
            <a:pathLst>
              <a:path h="8917961" w="14036273">
                <a:moveTo>
                  <a:pt x="0" y="0"/>
                </a:moveTo>
                <a:lnTo>
                  <a:pt x="14036272" y="0"/>
                </a:lnTo>
                <a:lnTo>
                  <a:pt x="14036272" y="8917961"/>
                </a:lnTo>
                <a:lnTo>
                  <a:pt x="0" y="891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854" t="-133639" r="-5912" b="-9305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93157" y="1520143"/>
            <a:ext cx="10661045" cy="7536026"/>
          </a:xfrm>
          <a:custGeom>
            <a:avLst/>
            <a:gdLst/>
            <a:ahLst/>
            <a:cxnLst/>
            <a:rect r="r" b="b" t="t" l="l"/>
            <a:pathLst>
              <a:path h="7536026" w="10661045">
                <a:moveTo>
                  <a:pt x="0" y="0"/>
                </a:moveTo>
                <a:lnTo>
                  <a:pt x="10661045" y="0"/>
                </a:lnTo>
                <a:lnTo>
                  <a:pt x="10661045" y="7536026"/>
                </a:lnTo>
                <a:lnTo>
                  <a:pt x="0" y="7536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0170"/>
            <a:ext cx="168882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Modelagem Dados V1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25667" y="95880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176" t="0" r="-22198" b="-5064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0170"/>
            <a:ext cx="1688820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b="true" sz="5499">
                <a:solidFill>
                  <a:srgbClr val="9E7B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 Solução V1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933506" y="3069851"/>
            <a:ext cx="8621272" cy="5011168"/>
            <a:chOff x="0" y="0"/>
            <a:chExt cx="2513320" cy="14608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13320" cy="1460883"/>
            </a:xfrm>
            <a:custGeom>
              <a:avLst/>
              <a:gdLst/>
              <a:ahLst/>
              <a:cxnLst/>
              <a:rect r="r" b="b" t="t" l="l"/>
              <a:pathLst>
                <a:path h="1460883" w="2513320">
                  <a:moveTo>
                    <a:pt x="13470" y="0"/>
                  </a:moveTo>
                  <a:lnTo>
                    <a:pt x="2499850" y="0"/>
                  </a:lnTo>
                  <a:cubicBezTo>
                    <a:pt x="2503422" y="0"/>
                    <a:pt x="2506848" y="1419"/>
                    <a:pt x="2509374" y="3945"/>
                  </a:cubicBezTo>
                  <a:cubicBezTo>
                    <a:pt x="2511901" y="6471"/>
                    <a:pt x="2513320" y="9898"/>
                    <a:pt x="2513320" y="13470"/>
                  </a:cubicBezTo>
                  <a:lnTo>
                    <a:pt x="2513320" y="1447413"/>
                  </a:lnTo>
                  <a:cubicBezTo>
                    <a:pt x="2513320" y="1450985"/>
                    <a:pt x="2511901" y="1454411"/>
                    <a:pt x="2509374" y="1456937"/>
                  </a:cubicBezTo>
                  <a:cubicBezTo>
                    <a:pt x="2506848" y="1459464"/>
                    <a:pt x="2503422" y="1460883"/>
                    <a:pt x="2499850" y="1460883"/>
                  </a:cubicBezTo>
                  <a:lnTo>
                    <a:pt x="13470" y="1460883"/>
                  </a:lnTo>
                  <a:cubicBezTo>
                    <a:pt x="9898" y="1460883"/>
                    <a:pt x="6471" y="1459464"/>
                    <a:pt x="3945" y="1456937"/>
                  </a:cubicBezTo>
                  <a:cubicBezTo>
                    <a:pt x="1419" y="1454411"/>
                    <a:pt x="0" y="1450985"/>
                    <a:pt x="0" y="1447413"/>
                  </a:cubicBezTo>
                  <a:lnTo>
                    <a:pt x="0" y="13470"/>
                  </a:lnTo>
                  <a:cubicBezTo>
                    <a:pt x="0" y="9898"/>
                    <a:pt x="1419" y="6471"/>
                    <a:pt x="3945" y="3945"/>
                  </a:cubicBezTo>
                  <a:cubicBezTo>
                    <a:pt x="6471" y="1419"/>
                    <a:pt x="9898" y="0"/>
                    <a:pt x="13470" y="0"/>
                  </a:cubicBezTo>
                  <a:close/>
                </a:path>
              </a:pathLst>
            </a:custGeom>
            <a:solidFill>
              <a:srgbClr val="F3F5FE"/>
            </a:solidFill>
            <a:ln w="28575" cap="sq">
              <a:solidFill>
                <a:srgbClr val="01186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13320" cy="1479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16365" y="4177444"/>
            <a:ext cx="3221535" cy="3227204"/>
            <a:chOff x="0" y="0"/>
            <a:chExt cx="939159" cy="940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9159" cy="940812"/>
            </a:xfrm>
            <a:custGeom>
              <a:avLst/>
              <a:gdLst/>
              <a:ahLst/>
              <a:cxnLst/>
              <a:rect r="r" b="b" t="t" l="l"/>
              <a:pathLst>
                <a:path h="940812" w="939159">
                  <a:moveTo>
                    <a:pt x="36048" y="0"/>
                  </a:moveTo>
                  <a:lnTo>
                    <a:pt x="903112" y="0"/>
                  </a:lnTo>
                  <a:cubicBezTo>
                    <a:pt x="923020" y="0"/>
                    <a:pt x="939159" y="16139"/>
                    <a:pt x="939159" y="36048"/>
                  </a:cubicBezTo>
                  <a:lnTo>
                    <a:pt x="939159" y="904764"/>
                  </a:lnTo>
                  <a:cubicBezTo>
                    <a:pt x="939159" y="914325"/>
                    <a:pt x="935362" y="923494"/>
                    <a:pt x="928601" y="930254"/>
                  </a:cubicBezTo>
                  <a:cubicBezTo>
                    <a:pt x="921841" y="937014"/>
                    <a:pt x="912672" y="940812"/>
                    <a:pt x="903112" y="940812"/>
                  </a:cubicBezTo>
                  <a:lnTo>
                    <a:pt x="36048" y="940812"/>
                  </a:lnTo>
                  <a:cubicBezTo>
                    <a:pt x="16139" y="940812"/>
                    <a:pt x="0" y="924673"/>
                    <a:pt x="0" y="904764"/>
                  </a:cubicBezTo>
                  <a:lnTo>
                    <a:pt x="0" y="36048"/>
                  </a:lnTo>
                  <a:cubicBezTo>
                    <a:pt x="0" y="26487"/>
                    <a:pt x="3798" y="17318"/>
                    <a:pt x="10558" y="10558"/>
                  </a:cubicBezTo>
                  <a:cubicBezTo>
                    <a:pt x="17318" y="3798"/>
                    <a:pt x="26487" y="0"/>
                    <a:pt x="36048" y="0"/>
                  </a:cubicBezTo>
                  <a:close/>
                </a:path>
              </a:pathLst>
            </a:custGeom>
            <a:solidFill>
              <a:srgbClr val="FFF7E2"/>
            </a:solidFill>
            <a:ln w="28575" cap="sq">
              <a:solidFill>
                <a:srgbClr val="9E7B3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39159" cy="959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57852" y="4177444"/>
            <a:ext cx="3182474" cy="3227204"/>
            <a:chOff x="0" y="0"/>
            <a:chExt cx="1101517" cy="1116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1517" cy="1116999"/>
            </a:xfrm>
            <a:custGeom>
              <a:avLst/>
              <a:gdLst/>
              <a:ahLst/>
              <a:cxnLst/>
              <a:rect r="r" b="b" t="t" l="l"/>
              <a:pathLst>
                <a:path h="1116999" w="1101517">
                  <a:moveTo>
                    <a:pt x="36490" y="0"/>
                  </a:moveTo>
                  <a:lnTo>
                    <a:pt x="1065027" y="0"/>
                  </a:lnTo>
                  <a:cubicBezTo>
                    <a:pt x="1085180" y="0"/>
                    <a:pt x="1101517" y="16337"/>
                    <a:pt x="1101517" y="36490"/>
                  </a:cubicBezTo>
                  <a:lnTo>
                    <a:pt x="1101517" y="1080509"/>
                  </a:lnTo>
                  <a:cubicBezTo>
                    <a:pt x="1101517" y="1090186"/>
                    <a:pt x="1097672" y="1099468"/>
                    <a:pt x="1090829" y="1106311"/>
                  </a:cubicBezTo>
                  <a:cubicBezTo>
                    <a:pt x="1083986" y="1113154"/>
                    <a:pt x="1074705" y="1116999"/>
                    <a:pt x="1065027" y="1116999"/>
                  </a:cubicBezTo>
                  <a:lnTo>
                    <a:pt x="36490" y="1116999"/>
                  </a:lnTo>
                  <a:cubicBezTo>
                    <a:pt x="16337" y="1116999"/>
                    <a:pt x="0" y="1100662"/>
                    <a:pt x="0" y="1080509"/>
                  </a:cubicBezTo>
                  <a:lnTo>
                    <a:pt x="0" y="36490"/>
                  </a:lnTo>
                  <a:cubicBezTo>
                    <a:pt x="0" y="16337"/>
                    <a:pt x="16337" y="0"/>
                    <a:pt x="36490" y="0"/>
                  </a:cubicBezTo>
                  <a:close/>
                </a:path>
              </a:pathLst>
            </a:custGeom>
            <a:solidFill>
              <a:srgbClr val="F3F5FE"/>
            </a:solidFill>
            <a:ln w="28575" cap="sq">
              <a:solidFill>
                <a:srgbClr val="01186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101517" cy="1136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473950" y="4708123"/>
            <a:ext cx="943728" cy="865056"/>
          </a:xfrm>
          <a:custGeom>
            <a:avLst/>
            <a:gdLst/>
            <a:ahLst/>
            <a:cxnLst/>
            <a:rect r="r" b="b" t="t" l="l"/>
            <a:pathLst>
              <a:path h="865056" w="943728">
                <a:moveTo>
                  <a:pt x="0" y="0"/>
                </a:moveTo>
                <a:lnTo>
                  <a:pt x="943729" y="0"/>
                </a:lnTo>
                <a:lnTo>
                  <a:pt x="943729" y="865056"/>
                </a:lnTo>
                <a:lnTo>
                  <a:pt x="0" y="86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43" t="0" r="-144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743882" y="4776998"/>
            <a:ext cx="1174895" cy="1486734"/>
          </a:xfrm>
          <a:custGeom>
            <a:avLst/>
            <a:gdLst/>
            <a:ahLst/>
            <a:cxnLst/>
            <a:rect r="r" b="b" t="t" l="l"/>
            <a:pathLst>
              <a:path h="1486734" w="1174895">
                <a:moveTo>
                  <a:pt x="0" y="0"/>
                </a:moveTo>
                <a:lnTo>
                  <a:pt x="1174895" y="0"/>
                </a:lnTo>
                <a:lnTo>
                  <a:pt x="1174895" y="1486733"/>
                </a:lnTo>
                <a:lnTo>
                  <a:pt x="0" y="1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216" t="-16188" r="-26706" b="-782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584445" y="6017495"/>
            <a:ext cx="672763" cy="737873"/>
          </a:xfrm>
          <a:custGeom>
            <a:avLst/>
            <a:gdLst/>
            <a:ahLst/>
            <a:cxnLst/>
            <a:rect r="r" b="b" t="t" l="l"/>
            <a:pathLst>
              <a:path h="737873" w="672763">
                <a:moveTo>
                  <a:pt x="0" y="0"/>
                </a:moveTo>
                <a:lnTo>
                  <a:pt x="672763" y="0"/>
                </a:lnTo>
                <a:lnTo>
                  <a:pt x="672763" y="737873"/>
                </a:lnTo>
                <a:lnTo>
                  <a:pt x="0" y="737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465" t="-5282" r="-10999" b="-728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563156" y="6029452"/>
            <a:ext cx="727439" cy="724378"/>
          </a:xfrm>
          <a:custGeom>
            <a:avLst/>
            <a:gdLst/>
            <a:ahLst/>
            <a:cxnLst/>
            <a:rect r="r" b="b" t="t" l="l"/>
            <a:pathLst>
              <a:path h="724378" w="727439">
                <a:moveTo>
                  <a:pt x="0" y="0"/>
                </a:moveTo>
                <a:lnTo>
                  <a:pt x="727439" y="0"/>
                </a:lnTo>
                <a:lnTo>
                  <a:pt x="727439" y="724378"/>
                </a:lnTo>
                <a:lnTo>
                  <a:pt x="0" y="724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484" t="-30767" r="-16484" b="-2763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605816" y="2627509"/>
            <a:ext cx="3384120" cy="797374"/>
            <a:chOff x="0" y="0"/>
            <a:chExt cx="986557" cy="2324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6557" cy="232455"/>
            </a:xfrm>
            <a:custGeom>
              <a:avLst/>
              <a:gdLst/>
              <a:ahLst/>
              <a:cxnLst/>
              <a:rect r="r" b="b" t="t" l="l"/>
              <a:pathLst>
                <a:path h="232455" w="986557">
                  <a:moveTo>
                    <a:pt x="59481" y="0"/>
                  </a:moveTo>
                  <a:lnTo>
                    <a:pt x="927076" y="0"/>
                  </a:lnTo>
                  <a:cubicBezTo>
                    <a:pt x="959926" y="0"/>
                    <a:pt x="986557" y="26630"/>
                    <a:pt x="986557" y="59481"/>
                  </a:cubicBezTo>
                  <a:lnTo>
                    <a:pt x="986557" y="172974"/>
                  </a:lnTo>
                  <a:cubicBezTo>
                    <a:pt x="986557" y="188749"/>
                    <a:pt x="980290" y="203878"/>
                    <a:pt x="969135" y="215033"/>
                  </a:cubicBezTo>
                  <a:cubicBezTo>
                    <a:pt x="957981" y="226188"/>
                    <a:pt x="942851" y="232455"/>
                    <a:pt x="927076" y="232455"/>
                  </a:cubicBezTo>
                  <a:lnTo>
                    <a:pt x="59481" y="232455"/>
                  </a:lnTo>
                  <a:cubicBezTo>
                    <a:pt x="43705" y="232455"/>
                    <a:pt x="28576" y="226188"/>
                    <a:pt x="17422" y="215033"/>
                  </a:cubicBezTo>
                  <a:cubicBezTo>
                    <a:pt x="6267" y="203878"/>
                    <a:pt x="0" y="188749"/>
                    <a:pt x="0" y="172974"/>
                  </a:cubicBezTo>
                  <a:lnTo>
                    <a:pt x="0" y="59481"/>
                  </a:lnTo>
                  <a:cubicBezTo>
                    <a:pt x="0" y="43705"/>
                    <a:pt x="6267" y="28576"/>
                    <a:pt x="17422" y="17422"/>
                  </a:cubicBezTo>
                  <a:cubicBezTo>
                    <a:pt x="28576" y="6267"/>
                    <a:pt x="43705" y="0"/>
                    <a:pt x="59481" y="0"/>
                  </a:cubicBezTo>
                  <a:close/>
                </a:path>
              </a:pathLst>
            </a:custGeom>
            <a:solidFill>
              <a:srgbClr val="01186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86557" cy="280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Aplicação Web</a:t>
              </a:r>
            </a:p>
            <a:p>
              <a:pPr algn="ctr">
                <a:lnSpc>
                  <a:spcPts val="1820"/>
                </a:lnSpc>
              </a:pPr>
              <a:r>
                <a:rPr lang="en-US" b="true" sz="13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(Máquina Local)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401658" y="5904049"/>
            <a:ext cx="1251557" cy="1251557"/>
          </a:xfrm>
          <a:custGeom>
            <a:avLst/>
            <a:gdLst/>
            <a:ahLst/>
            <a:cxnLst/>
            <a:rect r="r" b="b" t="t" l="l"/>
            <a:pathLst>
              <a:path h="1251557" w="1251557">
                <a:moveTo>
                  <a:pt x="0" y="0"/>
                </a:moveTo>
                <a:lnTo>
                  <a:pt x="1251557" y="0"/>
                </a:lnTo>
                <a:lnTo>
                  <a:pt x="1251557" y="1251557"/>
                </a:lnTo>
                <a:lnTo>
                  <a:pt x="0" y="12515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20883" y="3837382"/>
            <a:ext cx="2543201" cy="771283"/>
            <a:chOff x="0" y="0"/>
            <a:chExt cx="741408" cy="2248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1408" cy="224849"/>
            </a:xfrm>
            <a:custGeom>
              <a:avLst/>
              <a:gdLst/>
              <a:ahLst/>
              <a:cxnLst/>
              <a:rect r="r" b="b" t="t" l="l"/>
              <a:pathLst>
                <a:path h="224849" w="741408">
                  <a:moveTo>
                    <a:pt x="45662" y="0"/>
                  </a:moveTo>
                  <a:lnTo>
                    <a:pt x="695745" y="0"/>
                  </a:lnTo>
                  <a:cubicBezTo>
                    <a:pt x="720964" y="0"/>
                    <a:pt x="741408" y="20444"/>
                    <a:pt x="741408" y="45662"/>
                  </a:cubicBezTo>
                  <a:lnTo>
                    <a:pt x="741408" y="179186"/>
                  </a:lnTo>
                  <a:cubicBezTo>
                    <a:pt x="741408" y="191297"/>
                    <a:pt x="736597" y="202911"/>
                    <a:pt x="728034" y="211474"/>
                  </a:cubicBezTo>
                  <a:cubicBezTo>
                    <a:pt x="719470" y="220038"/>
                    <a:pt x="707856" y="224849"/>
                    <a:pt x="695745" y="224849"/>
                  </a:cubicBezTo>
                  <a:lnTo>
                    <a:pt x="45662" y="224849"/>
                  </a:lnTo>
                  <a:cubicBezTo>
                    <a:pt x="20444" y="224849"/>
                    <a:pt x="0" y="204405"/>
                    <a:pt x="0" y="179186"/>
                  </a:cubicBezTo>
                  <a:lnTo>
                    <a:pt x="0" y="45662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2" y="0"/>
                  </a:cubicBezTo>
                  <a:close/>
                </a:path>
              </a:pathLst>
            </a:custGeom>
            <a:solidFill>
              <a:srgbClr val="01186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41408" cy="26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Front-end</a:t>
              </a:r>
            </a:p>
            <a:p>
              <a:pPr algn="ctr">
                <a:lnSpc>
                  <a:spcPts val="1819"/>
                </a:lnSpc>
              </a:pPr>
              <a:r>
                <a:rPr lang="en-US" b="true" sz="12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(React)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75576" y="3746223"/>
            <a:ext cx="2543201" cy="862443"/>
            <a:chOff x="0" y="0"/>
            <a:chExt cx="741408" cy="2514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1408" cy="251424"/>
            </a:xfrm>
            <a:custGeom>
              <a:avLst/>
              <a:gdLst/>
              <a:ahLst/>
              <a:cxnLst/>
              <a:rect r="r" b="b" t="t" l="l"/>
              <a:pathLst>
                <a:path h="251424" w="741408">
                  <a:moveTo>
                    <a:pt x="45662" y="0"/>
                  </a:moveTo>
                  <a:lnTo>
                    <a:pt x="695745" y="0"/>
                  </a:lnTo>
                  <a:cubicBezTo>
                    <a:pt x="720964" y="0"/>
                    <a:pt x="741408" y="20444"/>
                    <a:pt x="741408" y="45662"/>
                  </a:cubicBezTo>
                  <a:lnTo>
                    <a:pt x="741408" y="205762"/>
                  </a:lnTo>
                  <a:cubicBezTo>
                    <a:pt x="741408" y="230980"/>
                    <a:pt x="720964" y="251424"/>
                    <a:pt x="695745" y="251424"/>
                  </a:cubicBezTo>
                  <a:lnTo>
                    <a:pt x="45662" y="251424"/>
                  </a:lnTo>
                  <a:cubicBezTo>
                    <a:pt x="33552" y="251424"/>
                    <a:pt x="21938" y="246613"/>
                    <a:pt x="13374" y="238050"/>
                  </a:cubicBezTo>
                  <a:cubicBezTo>
                    <a:pt x="4811" y="229486"/>
                    <a:pt x="0" y="217872"/>
                    <a:pt x="0" y="205762"/>
                  </a:cubicBezTo>
                  <a:lnTo>
                    <a:pt x="0" y="45662"/>
                  </a:lnTo>
                  <a:cubicBezTo>
                    <a:pt x="0" y="33552"/>
                    <a:pt x="4811" y="21938"/>
                    <a:pt x="13374" y="13374"/>
                  </a:cubicBezTo>
                  <a:cubicBezTo>
                    <a:pt x="21938" y="4811"/>
                    <a:pt x="33552" y="0"/>
                    <a:pt x="45662" y="0"/>
                  </a:cubicBez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1408" cy="289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</a:pPr>
              <a:r>
                <a:rPr lang="en-US" sz="12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Back-end</a:t>
              </a:r>
            </a:p>
            <a:p>
              <a:pPr algn="ctr">
                <a:lnSpc>
                  <a:spcPts val="1819"/>
                </a:lnSpc>
              </a:pPr>
              <a:r>
                <a:rPr lang="en-US" b="true" sz="1299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(Java + Spring Boot)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454357" y="3356393"/>
            <a:ext cx="809878" cy="809878"/>
          </a:xfrm>
          <a:custGeom>
            <a:avLst/>
            <a:gdLst/>
            <a:ahLst/>
            <a:cxnLst/>
            <a:rect r="r" b="b" t="t" l="l"/>
            <a:pathLst>
              <a:path h="809878" w="809878">
                <a:moveTo>
                  <a:pt x="0" y="0"/>
                </a:moveTo>
                <a:lnTo>
                  <a:pt x="809877" y="0"/>
                </a:lnTo>
                <a:lnTo>
                  <a:pt x="809877" y="809878"/>
                </a:lnTo>
                <a:lnTo>
                  <a:pt x="0" y="8098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371967" y="3356393"/>
            <a:ext cx="863397" cy="918508"/>
          </a:xfrm>
          <a:custGeom>
            <a:avLst/>
            <a:gdLst/>
            <a:ahLst/>
            <a:cxnLst/>
            <a:rect r="r" b="b" t="t" l="l"/>
            <a:pathLst>
              <a:path h="918508" w="863397">
                <a:moveTo>
                  <a:pt x="0" y="0"/>
                </a:moveTo>
                <a:lnTo>
                  <a:pt x="863397" y="0"/>
                </a:lnTo>
                <a:lnTo>
                  <a:pt x="863397" y="918508"/>
                </a:lnTo>
                <a:lnTo>
                  <a:pt x="0" y="9185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 flipV="true">
            <a:off x="4578827" y="4038633"/>
            <a:ext cx="1354679" cy="0"/>
          </a:xfrm>
          <a:prstGeom prst="line">
            <a:avLst/>
          </a:prstGeom>
          <a:ln cap="flat" w="57150">
            <a:solidFill>
              <a:srgbClr val="0F2C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flipV="true">
            <a:off x="9540326" y="5151853"/>
            <a:ext cx="1476039" cy="0"/>
          </a:xfrm>
          <a:prstGeom prst="line">
            <a:avLst/>
          </a:prstGeom>
          <a:ln cap="flat" w="57150">
            <a:solidFill>
              <a:srgbClr val="01186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2" id="32"/>
          <p:cNvSpPr/>
          <p:nvPr/>
        </p:nvSpPr>
        <p:spPr>
          <a:xfrm flipH="true" flipV="true">
            <a:off x="9540326" y="6263731"/>
            <a:ext cx="1476039" cy="0"/>
          </a:xfrm>
          <a:prstGeom prst="line">
            <a:avLst/>
          </a:prstGeom>
          <a:ln cap="flat" w="57150">
            <a:solidFill>
              <a:srgbClr val="01186E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8555727" y="6085522"/>
            <a:ext cx="669839" cy="676917"/>
          </a:xfrm>
          <a:custGeom>
            <a:avLst/>
            <a:gdLst/>
            <a:ahLst/>
            <a:cxnLst/>
            <a:rect r="r" b="b" t="t" l="l"/>
            <a:pathLst>
              <a:path h="676917" w="669839">
                <a:moveTo>
                  <a:pt x="0" y="0"/>
                </a:moveTo>
                <a:lnTo>
                  <a:pt x="669839" y="0"/>
                </a:lnTo>
                <a:lnTo>
                  <a:pt x="669839" y="676917"/>
                </a:lnTo>
                <a:lnTo>
                  <a:pt x="0" y="6769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4792" t="-13592" r="-14264" b="-14115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463187" y="4284860"/>
            <a:ext cx="680957" cy="23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</a:pPr>
            <a:r>
              <a:rPr lang="en-US" sz="1348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Usuário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45574" y="4284860"/>
            <a:ext cx="627443" cy="23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</a:pPr>
            <a:r>
              <a:rPr lang="en-US" sz="1348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Cliente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86807" y="4519141"/>
            <a:ext cx="966383" cy="201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5"/>
              </a:lnSpc>
            </a:pPr>
            <a:r>
              <a:rPr lang="en-US" sz="1160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1160" b="true">
                <a:solidFill>
                  <a:srgbClr val="38318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Navegador</a:t>
            </a:r>
            <a:r>
              <a:rPr lang="en-US" sz="1160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19340" y="6504703"/>
            <a:ext cx="1157072" cy="3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Respostas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77655" y="6807946"/>
            <a:ext cx="667508" cy="25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</a:pPr>
            <a:r>
              <a:rPr lang="en-US" sz="1467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1467" b="true">
                <a:solidFill>
                  <a:srgbClr val="38318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JSON</a:t>
            </a:r>
            <a:r>
              <a:rPr lang="en-US" sz="1467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28134" y="4359459"/>
            <a:ext cx="1339485" cy="3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Requisições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00464" y="4662702"/>
            <a:ext cx="621891" cy="257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4"/>
              </a:lnSpc>
            </a:pPr>
            <a:r>
              <a:rPr lang="en-US" sz="1467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sz="1467" b="true">
                <a:solidFill>
                  <a:srgbClr val="38318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</a:t>
            </a:r>
            <a:r>
              <a:rPr lang="en-US" sz="1467">
                <a:solidFill>
                  <a:srgbClr val="38318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578827" y="2939445"/>
            <a:ext cx="1251774" cy="543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b="true" sz="1561">
                <a:solidFill>
                  <a:srgbClr val="01186E"/>
                </a:solidFill>
                <a:latin typeface="Poppins Bold"/>
                <a:ea typeface="Poppins Bold"/>
                <a:cs typeface="Poppins Bold"/>
                <a:sym typeface="Poppins Bold"/>
              </a:rPr>
              <a:t>Acessa</a:t>
            </a:r>
          </a:p>
          <a:p>
            <a:pPr algn="ctr">
              <a:lnSpc>
                <a:spcPts val="2185"/>
              </a:lnSpc>
            </a:pPr>
            <a:r>
              <a:rPr lang="en-US" b="true" sz="1561">
                <a:solidFill>
                  <a:srgbClr val="01186E"/>
                </a:solidFill>
                <a:latin typeface="Poppins Bold"/>
                <a:ea typeface="Poppins Bold"/>
                <a:cs typeface="Poppins Bold"/>
                <a:sym typeface="Poppins Bold"/>
              </a:rPr>
              <a:t> a Aplicação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20061" y="3600204"/>
            <a:ext cx="569306" cy="238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1"/>
              </a:lnSpc>
            </a:pPr>
            <a:r>
              <a:rPr lang="en-US" sz="1343">
                <a:solidFill>
                  <a:srgbClr val="01186E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n-US" b="true" sz="1343">
                <a:solidFill>
                  <a:srgbClr val="01186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</a:t>
            </a:r>
            <a:r>
              <a:rPr lang="en-US" sz="1343">
                <a:solidFill>
                  <a:srgbClr val="01186E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00545" y="5598858"/>
            <a:ext cx="640562" cy="3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React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05144" y="6762641"/>
            <a:ext cx="431364" cy="3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CSS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03321" y="6782697"/>
            <a:ext cx="588404" cy="3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HTML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333000" y="6841384"/>
            <a:ext cx="1115294" cy="25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sz="1439" b="true">
                <a:solidFill>
                  <a:srgbClr val="38318F"/>
                </a:solidFill>
                <a:latin typeface="Poppins Bold"/>
                <a:ea typeface="Poppins Bold"/>
                <a:cs typeface="Poppins Bold"/>
                <a:sym typeface="Poppins Bold"/>
              </a:rPr>
              <a:t>Java Script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43772" y="0"/>
            <a:ext cx="5344228" cy="10845205"/>
          </a:xfrm>
          <a:custGeom>
            <a:avLst/>
            <a:gdLst/>
            <a:ahLst/>
            <a:cxnLst/>
            <a:rect r="r" b="b" t="t" l="l"/>
            <a:pathLst>
              <a:path h="10845205" w="5344228">
                <a:moveTo>
                  <a:pt x="0" y="0"/>
                </a:moveTo>
                <a:lnTo>
                  <a:pt x="5344228" y="0"/>
                </a:lnTo>
                <a:lnTo>
                  <a:pt x="5344228" y="10845205"/>
                </a:lnTo>
                <a:lnTo>
                  <a:pt x="0" y="10845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519" t="0" r="-604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68" t="-6211" r="-10280" b="-621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62035" y="1171575"/>
            <a:ext cx="8266262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E6C3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Conclusão</a:t>
            </a:r>
          </a:p>
          <a:p>
            <a:pPr algn="l">
              <a:lnSpc>
                <a:spcPts val="4500"/>
              </a:lnSpc>
            </a:pPr>
            <a:r>
              <a:rPr lang="en-US" sz="5000" b="true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Próximos Passos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2035" y="3343660"/>
            <a:ext cx="5454801" cy="40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2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Desenvolver o sistema de estoque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95574" y="0"/>
            <a:ext cx="32370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Fonte imagem: Freepik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035" y="4391217"/>
            <a:ext cx="5454801" cy="82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2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Desenvolver o site institucional</a:t>
            </a:r>
          </a:p>
          <a:p>
            <a:pPr algn="l">
              <a:lnSpc>
                <a:spcPts val="330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62035" y="5529920"/>
            <a:ext cx="5454801" cy="855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23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Encontrar e aplicar possíveis melhorias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905826"/>
            <a:ext cx="6211705" cy="82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  <a:r>
              <a:rPr lang="en-US" sz="22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Aprofundar nosso conhecimento sobre o cotidiano do nosso beneficiário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" r="0" b="-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8352" y="3351131"/>
            <a:ext cx="4000500" cy="4436123"/>
            <a:chOff x="0" y="0"/>
            <a:chExt cx="147678" cy="1637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678" cy="163759"/>
            </a:xfrm>
            <a:custGeom>
              <a:avLst/>
              <a:gdLst/>
              <a:ahLst/>
              <a:cxnLst/>
              <a:rect r="r" b="b" t="t" l="l"/>
              <a:pathLst>
                <a:path h="163759" w="147678">
                  <a:moveTo>
                    <a:pt x="67733" y="0"/>
                  </a:moveTo>
                  <a:lnTo>
                    <a:pt x="79945" y="0"/>
                  </a:lnTo>
                  <a:cubicBezTo>
                    <a:pt x="97909" y="0"/>
                    <a:pt x="115137" y="7136"/>
                    <a:pt x="127839" y="19839"/>
                  </a:cubicBezTo>
                  <a:cubicBezTo>
                    <a:pt x="140542" y="32541"/>
                    <a:pt x="147678" y="49769"/>
                    <a:pt x="147678" y="67733"/>
                  </a:cubicBezTo>
                  <a:lnTo>
                    <a:pt x="147678" y="96025"/>
                  </a:lnTo>
                  <a:cubicBezTo>
                    <a:pt x="147678" y="113989"/>
                    <a:pt x="140542" y="131218"/>
                    <a:pt x="127839" y="143920"/>
                  </a:cubicBezTo>
                  <a:cubicBezTo>
                    <a:pt x="115137" y="156623"/>
                    <a:pt x="97909" y="163759"/>
                    <a:pt x="79945" y="163759"/>
                  </a:cubicBezTo>
                  <a:lnTo>
                    <a:pt x="67733" y="163759"/>
                  </a:lnTo>
                  <a:cubicBezTo>
                    <a:pt x="49769" y="163759"/>
                    <a:pt x="32541" y="156623"/>
                    <a:pt x="19839" y="143920"/>
                  </a:cubicBezTo>
                  <a:cubicBezTo>
                    <a:pt x="7136" y="131218"/>
                    <a:pt x="0" y="113989"/>
                    <a:pt x="0" y="96025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7678" cy="20185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40899" y="3351131"/>
            <a:ext cx="4000500" cy="4436123"/>
            <a:chOff x="0" y="0"/>
            <a:chExt cx="147678" cy="1637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678" cy="163759"/>
            </a:xfrm>
            <a:custGeom>
              <a:avLst/>
              <a:gdLst/>
              <a:ahLst/>
              <a:cxnLst/>
              <a:rect r="r" b="b" t="t" l="l"/>
              <a:pathLst>
                <a:path h="163759" w="147678">
                  <a:moveTo>
                    <a:pt x="67733" y="0"/>
                  </a:moveTo>
                  <a:lnTo>
                    <a:pt x="79945" y="0"/>
                  </a:lnTo>
                  <a:cubicBezTo>
                    <a:pt x="97909" y="0"/>
                    <a:pt x="115137" y="7136"/>
                    <a:pt x="127839" y="19839"/>
                  </a:cubicBezTo>
                  <a:cubicBezTo>
                    <a:pt x="140542" y="32541"/>
                    <a:pt x="147678" y="49769"/>
                    <a:pt x="147678" y="67733"/>
                  </a:cubicBezTo>
                  <a:lnTo>
                    <a:pt x="147678" y="96025"/>
                  </a:lnTo>
                  <a:cubicBezTo>
                    <a:pt x="147678" y="113989"/>
                    <a:pt x="140542" y="131218"/>
                    <a:pt x="127839" y="143920"/>
                  </a:cubicBezTo>
                  <a:cubicBezTo>
                    <a:pt x="115137" y="156623"/>
                    <a:pt x="97909" y="163759"/>
                    <a:pt x="79945" y="163759"/>
                  </a:cubicBezTo>
                  <a:lnTo>
                    <a:pt x="67733" y="163759"/>
                  </a:lnTo>
                  <a:cubicBezTo>
                    <a:pt x="49769" y="163759"/>
                    <a:pt x="32541" y="156623"/>
                    <a:pt x="19839" y="143920"/>
                  </a:cubicBezTo>
                  <a:cubicBezTo>
                    <a:pt x="7136" y="131218"/>
                    <a:pt x="0" y="113989"/>
                    <a:pt x="0" y="96025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7678" cy="20185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43463" y="4593176"/>
            <a:ext cx="3470279" cy="1952032"/>
          </a:xfrm>
          <a:custGeom>
            <a:avLst/>
            <a:gdLst/>
            <a:ahLst/>
            <a:cxnLst/>
            <a:rect r="r" b="b" t="t" l="l"/>
            <a:pathLst>
              <a:path h="1952032" w="3470279">
                <a:moveTo>
                  <a:pt x="0" y="0"/>
                </a:moveTo>
                <a:lnTo>
                  <a:pt x="3470279" y="0"/>
                </a:lnTo>
                <a:lnTo>
                  <a:pt x="3470279" y="1952032"/>
                </a:lnTo>
                <a:lnTo>
                  <a:pt x="0" y="1952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813779" y="3351131"/>
            <a:ext cx="4000500" cy="4436123"/>
            <a:chOff x="0" y="0"/>
            <a:chExt cx="147678" cy="1637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678" cy="163759"/>
            </a:xfrm>
            <a:custGeom>
              <a:avLst/>
              <a:gdLst/>
              <a:ahLst/>
              <a:cxnLst/>
              <a:rect r="r" b="b" t="t" l="l"/>
              <a:pathLst>
                <a:path h="163759" w="147678">
                  <a:moveTo>
                    <a:pt x="67733" y="0"/>
                  </a:moveTo>
                  <a:lnTo>
                    <a:pt x="79945" y="0"/>
                  </a:lnTo>
                  <a:cubicBezTo>
                    <a:pt x="97909" y="0"/>
                    <a:pt x="115137" y="7136"/>
                    <a:pt x="127839" y="19839"/>
                  </a:cubicBezTo>
                  <a:cubicBezTo>
                    <a:pt x="140542" y="32541"/>
                    <a:pt x="147678" y="49769"/>
                    <a:pt x="147678" y="67733"/>
                  </a:cubicBezTo>
                  <a:lnTo>
                    <a:pt x="147678" y="96025"/>
                  </a:lnTo>
                  <a:cubicBezTo>
                    <a:pt x="147678" y="113989"/>
                    <a:pt x="140542" y="131218"/>
                    <a:pt x="127839" y="143920"/>
                  </a:cubicBezTo>
                  <a:cubicBezTo>
                    <a:pt x="115137" y="156623"/>
                    <a:pt x="97909" y="163759"/>
                    <a:pt x="79945" y="163759"/>
                  </a:cubicBezTo>
                  <a:lnTo>
                    <a:pt x="67733" y="163759"/>
                  </a:lnTo>
                  <a:cubicBezTo>
                    <a:pt x="49769" y="163759"/>
                    <a:pt x="32541" y="156623"/>
                    <a:pt x="19839" y="143920"/>
                  </a:cubicBezTo>
                  <a:cubicBezTo>
                    <a:pt x="7136" y="131218"/>
                    <a:pt x="0" y="113989"/>
                    <a:pt x="0" y="96025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7678" cy="20185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72701" y="3351131"/>
            <a:ext cx="4000500" cy="4436123"/>
            <a:chOff x="0" y="0"/>
            <a:chExt cx="147678" cy="163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678" cy="163759"/>
            </a:xfrm>
            <a:custGeom>
              <a:avLst/>
              <a:gdLst/>
              <a:ahLst/>
              <a:cxnLst/>
              <a:rect r="r" b="b" t="t" l="l"/>
              <a:pathLst>
                <a:path h="163759" w="147678">
                  <a:moveTo>
                    <a:pt x="67733" y="0"/>
                  </a:moveTo>
                  <a:lnTo>
                    <a:pt x="79945" y="0"/>
                  </a:lnTo>
                  <a:cubicBezTo>
                    <a:pt x="97909" y="0"/>
                    <a:pt x="115137" y="7136"/>
                    <a:pt x="127839" y="19839"/>
                  </a:cubicBezTo>
                  <a:cubicBezTo>
                    <a:pt x="140542" y="32541"/>
                    <a:pt x="147678" y="49769"/>
                    <a:pt x="147678" y="67733"/>
                  </a:cubicBezTo>
                  <a:lnTo>
                    <a:pt x="147678" y="96025"/>
                  </a:lnTo>
                  <a:cubicBezTo>
                    <a:pt x="147678" y="113989"/>
                    <a:pt x="140542" y="131218"/>
                    <a:pt x="127839" y="143920"/>
                  </a:cubicBezTo>
                  <a:cubicBezTo>
                    <a:pt x="115137" y="156623"/>
                    <a:pt x="97909" y="163759"/>
                    <a:pt x="79945" y="163759"/>
                  </a:cubicBezTo>
                  <a:lnTo>
                    <a:pt x="67733" y="163759"/>
                  </a:lnTo>
                  <a:cubicBezTo>
                    <a:pt x="49769" y="163759"/>
                    <a:pt x="32541" y="156623"/>
                    <a:pt x="19839" y="143920"/>
                  </a:cubicBezTo>
                  <a:cubicBezTo>
                    <a:pt x="7136" y="131218"/>
                    <a:pt x="0" y="113989"/>
                    <a:pt x="0" y="96025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7678" cy="201859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259300" y="9664276"/>
            <a:ext cx="1052808" cy="619008"/>
          </a:xfrm>
          <a:custGeom>
            <a:avLst/>
            <a:gdLst/>
            <a:ahLst/>
            <a:cxnLst/>
            <a:rect r="r" b="b" t="t" l="l"/>
            <a:pathLst>
              <a:path h="619008" w="1052808">
                <a:moveTo>
                  <a:pt x="0" y="0"/>
                </a:moveTo>
                <a:lnTo>
                  <a:pt x="1052808" y="0"/>
                </a:lnTo>
                <a:lnTo>
                  <a:pt x="1052808" y="619008"/>
                </a:lnTo>
                <a:lnTo>
                  <a:pt x="0" y="6190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176" t="0" r="-22198" b="-50641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69109" y="3051404"/>
            <a:ext cx="2218986" cy="648287"/>
            <a:chOff x="0" y="0"/>
            <a:chExt cx="82950" cy="242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950" cy="24234"/>
            </a:xfrm>
            <a:custGeom>
              <a:avLst/>
              <a:gdLst/>
              <a:ahLst/>
              <a:cxnLst/>
              <a:rect r="r" b="b" t="t" l="l"/>
              <a:pathLst>
                <a:path h="24234" w="82950">
                  <a:moveTo>
                    <a:pt x="0" y="0"/>
                  </a:moveTo>
                  <a:lnTo>
                    <a:pt x="82950" y="0"/>
                  </a:lnTo>
                  <a:lnTo>
                    <a:pt x="82950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2950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84672" y="3051404"/>
            <a:ext cx="1982210" cy="648287"/>
            <a:chOff x="0" y="0"/>
            <a:chExt cx="74099" cy="242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6296" y="3051404"/>
            <a:ext cx="2633310" cy="648287"/>
            <a:chOff x="0" y="0"/>
            <a:chExt cx="98438" cy="242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438" cy="24234"/>
            </a:xfrm>
            <a:custGeom>
              <a:avLst/>
              <a:gdLst/>
              <a:ahLst/>
              <a:cxnLst/>
              <a:rect r="r" b="b" t="t" l="l"/>
              <a:pathLst>
                <a:path h="24234" w="98438">
                  <a:moveTo>
                    <a:pt x="0" y="0"/>
                  </a:moveTo>
                  <a:lnTo>
                    <a:pt x="98438" y="0"/>
                  </a:lnTo>
                  <a:lnTo>
                    <a:pt x="98438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8438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822924" y="3051404"/>
            <a:ext cx="1982210" cy="648287"/>
            <a:chOff x="0" y="0"/>
            <a:chExt cx="74099" cy="242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099" cy="24234"/>
            </a:xfrm>
            <a:custGeom>
              <a:avLst/>
              <a:gdLst/>
              <a:ahLst/>
              <a:cxnLst/>
              <a:rect r="r" b="b" t="t" l="l"/>
              <a:pathLst>
                <a:path h="24234" w="74099">
                  <a:moveTo>
                    <a:pt x="0" y="0"/>
                  </a:moveTo>
                  <a:lnTo>
                    <a:pt x="74099" y="0"/>
                  </a:lnTo>
                  <a:lnTo>
                    <a:pt x="74099" y="24234"/>
                  </a:lnTo>
                  <a:lnTo>
                    <a:pt x="0" y="24234"/>
                  </a:lnTo>
                  <a:close/>
                </a:path>
              </a:pathLst>
            </a:custGeom>
            <a:solidFill>
              <a:srgbClr val="9E7B3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4099" cy="62334"/>
            </a:xfrm>
            <a:prstGeom prst="rect">
              <a:avLst/>
            </a:prstGeom>
          </p:spPr>
          <p:txBody>
            <a:bodyPr anchor="ctr" rtlCol="false" tIns="362440" lIns="362440" bIns="362440" rIns="3624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4282169" y="4284260"/>
            <a:ext cx="3086794" cy="1776644"/>
          </a:xfrm>
          <a:custGeom>
            <a:avLst/>
            <a:gdLst/>
            <a:ahLst/>
            <a:cxnLst/>
            <a:rect r="r" b="b" t="t" l="l"/>
            <a:pathLst>
              <a:path h="1776644" w="3086794">
                <a:moveTo>
                  <a:pt x="0" y="0"/>
                </a:moveTo>
                <a:lnTo>
                  <a:pt x="3086794" y="0"/>
                </a:lnTo>
                <a:lnTo>
                  <a:pt x="3086794" y="1776643"/>
                </a:lnTo>
                <a:lnTo>
                  <a:pt x="0" y="177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010" t="0" r="-21047" b="-5064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259095" y="6184399"/>
            <a:ext cx="3109868" cy="669726"/>
          </a:xfrm>
          <a:custGeom>
            <a:avLst/>
            <a:gdLst/>
            <a:ahLst/>
            <a:cxnLst/>
            <a:rect r="r" b="b" t="t" l="l"/>
            <a:pathLst>
              <a:path h="669726" w="3109868">
                <a:moveTo>
                  <a:pt x="0" y="0"/>
                </a:moveTo>
                <a:lnTo>
                  <a:pt x="3109868" y="0"/>
                </a:lnTo>
                <a:lnTo>
                  <a:pt x="3109868" y="669726"/>
                </a:lnTo>
                <a:lnTo>
                  <a:pt x="0" y="669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09" t="-197613" r="-8971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332554" y="4250765"/>
            <a:ext cx="1194219" cy="1161409"/>
          </a:xfrm>
          <a:custGeom>
            <a:avLst/>
            <a:gdLst/>
            <a:ahLst/>
            <a:cxnLst/>
            <a:rect r="r" b="b" t="t" l="l"/>
            <a:pathLst>
              <a:path h="1161409" w="1194219">
                <a:moveTo>
                  <a:pt x="0" y="0"/>
                </a:moveTo>
                <a:lnTo>
                  <a:pt x="1194219" y="0"/>
                </a:lnTo>
                <a:lnTo>
                  <a:pt x="1194219" y="1161409"/>
                </a:lnTo>
                <a:lnTo>
                  <a:pt x="0" y="11614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715" t="0" r="-37177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471773" y="6004711"/>
            <a:ext cx="1166340" cy="1006298"/>
          </a:xfrm>
          <a:custGeom>
            <a:avLst/>
            <a:gdLst/>
            <a:ahLst/>
            <a:cxnLst/>
            <a:rect r="r" b="b" t="t" l="l"/>
            <a:pathLst>
              <a:path h="1006298" w="1166340">
                <a:moveTo>
                  <a:pt x="0" y="0"/>
                </a:moveTo>
                <a:lnTo>
                  <a:pt x="1166340" y="0"/>
                </a:lnTo>
                <a:lnTo>
                  <a:pt x="1166340" y="1006299"/>
                </a:lnTo>
                <a:lnTo>
                  <a:pt x="0" y="1006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830423" y="6046592"/>
            <a:ext cx="1588577" cy="1006298"/>
          </a:xfrm>
          <a:custGeom>
            <a:avLst/>
            <a:gdLst/>
            <a:ahLst/>
            <a:cxnLst/>
            <a:rect r="r" b="b" t="t" l="l"/>
            <a:pathLst>
              <a:path h="1006298" w="1588577">
                <a:moveTo>
                  <a:pt x="0" y="0"/>
                </a:moveTo>
                <a:lnTo>
                  <a:pt x="1588577" y="0"/>
                </a:lnTo>
                <a:lnTo>
                  <a:pt x="1588577" y="1006298"/>
                </a:lnTo>
                <a:lnTo>
                  <a:pt x="0" y="10062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1264" t="-96492" r="-346381" b="-15666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64923" y="4165040"/>
            <a:ext cx="1319577" cy="1319577"/>
          </a:xfrm>
          <a:custGeom>
            <a:avLst/>
            <a:gdLst/>
            <a:ahLst/>
            <a:cxnLst/>
            <a:rect r="r" b="b" t="t" l="l"/>
            <a:pathLst>
              <a:path h="1319577" w="1319577">
                <a:moveTo>
                  <a:pt x="0" y="0"/>
                </a:moveTo>
                <a:lnTo>
                  <a:pt x="1319577" y="0"/>
                </a:lnTo>
                <a:lnTo>
                  <a:pt x="1319577" y="1319577"/>
                </a:lnTo>
                <a:lnTo>
                  <a:pt x="0" y="13195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203474" y="4450790"/>
            <a:ext cx="2482454" cy="2978388"/>
          </a:xfrm>
          <a:custGeom>
            <a:avLst/>
            <a:gdLst/>
            <a:ahLst/>
            <a:cxnLst/>
            <a:rect r="r" b="b" t="t" l="l"/>
            <a:pathLst>
              <a:path h="2978388" w="2482454">
                <a:moveTo>
                  <a:pt x="0" y="0"/>
                </a:moveTo>
                <a:lnTo>
                  <a:pt x="2482454" y="0"/>
                </a:lnTo>
                <a:lnTo>
                  <a:pt x="2482454" y="2978388"/>
                </a:lnTo>
                <a:lnTo>
                  <a:pt x="0" y="29783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531" r="0" b="-5531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535553" y="766763"/>
            <a:ext cx="721689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AGRADECIMENTOS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01412" y="3745293"/>
            <a:ext cx="3343077" cy="50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</a:pPr>
            <a:r>
              <a:rPr lang="en-US" sz="29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Gustavo Cardozo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2787" y="3235524"/>
            <a:ext cx="2211630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Faculdade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88350" y="3235524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Empresas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59974" y="3235524"/>
            <a:ext cx="26259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Entrevistado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826602" y="3235524"/>
            <a:ext cx="1974854" cy="36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b="true" sz="296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0498" y="0"/>
            <a:ext cx="11876766" cy="10481094"/>
          </a:xfrm>
          <a:custGeom>
            <a:avLst/>
            <a:gdLst/>
            <a:ahLst/>
            <a:cxnLst/>
            <a:rect r="r" b="b" t="t" l="l"/>
            <a:pathLst>
              <a:path h="10481094" w="11876766">
                <a:moveTo>
                  <a:pt x="0" y="0"/>
                </a:moveTo>
                <a:lnTo>
                  <a:pt x="11876766" y="0"/>
                </a:lnTo>
                <a:lnTo>
                  <a:pt x="11876766" y="10481094"/>
                </a:lnTo>
                <a:lnTo>
                  <a:pt x="0" y="10481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23" t="0" r="-2243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8575"/>
            <a:ext cx="18288000" cy="10344150"/>
          </a:xfrm>
          <a:custGeom>
            <a:avLst/>
            <a:gdLst/>
            <a:ahLst/>
            <a:cxnLst/>
            <a:rect r="r" b="b" t="t" l="l"/>
            <a:pathLst>
              <a:path h="10344150" w="18288000">
                <a:moveTo>
                  <a:pt x="0" y="0"/>
                </a:moveTo>
                <a:lnTo>
                  <a:pt x="18288000" y="0"/>
                </a:lnTo>
                <a:lnTo>
                  <a:pt x="18288000" y="10344150"/>
                </a:lnTo>
                <a:lnTo>
                  <a:pt x="0" y="10344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6246" y="8353101"/>
            <a:ext cx="2797972" cy="1610408"/>
          </a:xfrm>
          <a:custGeom>
            <a:avLst/>
            <a:gdLst/>
            <a:ahLst/>
            <a:cxnLst/>
            <a:rect r="r" b="b" t="t" l="l"/>
            <a:pathLst>
              <a:path h="1610408" w="2797972">
                <a:moveTo>
                  <a:pt x="0" y="0"/>
                </a:moveTo>
                <a:lnTo>
                  <a:pt x="2797972" y="0"/>
                </a:lnTo>
                <a:lnTo>
                  <a:pt x="2797972" y="1610408"/>
                </a:lnTo>
                <a:lnTo>
                  <a:pt x="0" y="1610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010" t="0" r="-21047" b="-506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7819" y="4484305"/>
            <a:ext cx="6121931" cy="1318390"/>
          </a:xfrm>
          <a:custGeom>
            <a:avLst/>
            <a:gdLst/>
            <a:ahLst/>
            <a:cxnLst/>
            <a:rect r="r" b="b" t="t" l="l"/>
            <a:pathLst>
              <a:path h="1318390" w="6121931">
                <a:moveTo>
                  <a:pt x="0" y="0"/>
                </a:moveTo>
                <a:lnTo>
                  <a:pt x="6121931" y="0"/>
                </a:lnTo>
                <a:lnTo>
                  <a:pt x="6121931" y="1318390"/>
                </a:lnTo>
                <a:lnTo>
                  <a:pt x="0" y="1318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09" t="-197613" r="-89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9672" y="2323112"/>
            <a:ext cx="7434328" cy="174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AGRADECEMOS A         </a:t>
            </a:r>
          </a:p>
          <a:p>
            <a:pPr algn="l" marL="0" indent="0" lvl="0">
              <a:lnSpc>
                <a:spcPts val="6929"/>
              </a:lnSpc>
            </a:pPr>
            <a:r>
              <a:rPr lang="en-US" b="true" sz="5499">
                <a:solidFill>
                  <a:srgbClr val="0F2C5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ATENÇÃO!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09045" y="9906359"/>
            <a:ext cx="3237053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Fonte imagem: Freepik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DAHI2kuSI7k</dc:identifier>
  <dcterms:modified xsi:type="dcterms:W3CDTF">2011-08-01T06:04:30Z</dcterms:modified>
  <cp:revision>1</cp:revision>
  <dc:title>Slide de Apresentação - Vastiny - Sprint 1</dc:title>
</cp:coreProperties>
</file>